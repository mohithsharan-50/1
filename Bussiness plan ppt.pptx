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3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F85F86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rgbClr val="252323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F85F86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rgbClr val="252323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F85F86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F85F86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CF9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755" y="610260"/>
            <a:ext cx="4971415" cy="13244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F85F86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3327" y="2065147"/>
            <a:ext cx="5427980" cy="2906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rgbClr val="252323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3878" y="1899031"/>
            <a:ext cx="5825490" cy="1180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4660"/>
              </a:lnSpc>
            </a:pPr>
            <a:r>
              <a:rPr spc="-320" dirty="0"/>
              <a:t>The</a:t>
            </a:r>
            <a:r>
              <a:rPr spc="-355" dirty="0"/>
              <a:t> </a:t>
            </a:r>
            <a:r>
              <a:rPr spc="-305" dirty="0"/>
              <a:t>Future</a:t>
            </a:r>
            <a:r>
              <a:rPr spc="-345" dirty="0"/>
              <a:t> </a:t>
            </a:r>
            <a:r>
              <a:rPr spc="-254" dirty="0"/>
              <a:t>of</a:t>
            </a:r>
            <a:r>
              <a:rPr spc="-330" dirty="0"/>
              <a:t> </a:t>
            </a:r>
            <a:r>
              <a:rPr spc="-355" dirty="0"/>
              <a:t>Work: </a:t>
            </a:r>
            <a:r>
              <a:rPr spc="-325" dirty="0"/>
              <a:t>Revolutionizing</a:t>
            </a:r>
            <a:r>
              <a:rPr spc="-75" dirty="0"/>
              <a:t> </a:t>
            </a:r>
            <a:r>
              <a:rPr spc="-340" dirty="0"/>
              <a:t>Freelancing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73878" y="3326663"/>
            <a:ext cx="5687060" cy="1116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2600"/>
              </a:lnSpc>
              <a:spcBef>
                <a:spcPts val="95"/>
              </a:spcBef>
            </a:pP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Welcome</a:t>
            </a:r>
            <a:r>
              <a:rPr sz="1350" spc="-16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252323"/>
                </a:solidFill>
                <a:latin typeface="Verdana"/>
                <a:cs typeface="Verdana"/>
              </a:rPr>
              <a:t>to</a:t>
            </a:r>
            <a:r>
              <a:rPr sz="1350" spc="-15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52323"/>
                </a:solidFill>
                <a:latin typeface="Verdana"/>
                <a:cs typeface="Verdana"/>
              </a:rPr>
              <a:t>the</a:t>
            </a:r>
            <a:r>
              <a:rPr sz="1350" spc="-17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52323"/>
                </a:solidFill>
                <a:latin typeface="Verdana"/>
                <a:cs typeface="Verdana"/>
              </a:rPr>
              <a:t>future</a:t>
            </a:r>
            <a:r>
              <a:rPr sz="1350" spc="-17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252323"/>
                </a:solidFill>
                <a:latin typeface="Verdana"/>
                <a:cs typeface="Verdana"/>
              </a:rPr>
              <a:t>of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52323"/>
                </a:solidFill>
                <a:latin typeface="Verdana"/>
                <a:cs typeface="Verdana"/>
              </a:rPr>
              <a:t>work.</a:t>
            </a:r>
            <a:r>
              <a:rPr sz="1350" spc="-16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52323"/>
                </a:solidFill>
                <a:latin typeface="Verdana"/>
                <a:cs typeface="Verdana"/>
              </a:rPr>
              <a:t>We're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revolutionizing</a:t>
            </a:r>
            <a:r>
              <a:rPr sz="1350" spc="-16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freelancing</a:t>
            </a:r>
            <a:r>
              <a:rPr sz="1350" spc="-15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52323"/>
                </a:solidFill>
                <a:latin typeface="Verdana"/>
                <a:cs typeface="Verdana"/>
              </a:rPr>
              <a:t>by </a:t>
            </a: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connecting</a:t>
            </a:r>
            <a:r>
              <a:rPr sz="1350" spc="-13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talented</a:t>
            </a:r>
            <a:r>
              <a:rPr sz="1350" spc="-12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professionals</a:t>
            </a:r>
            <a:r>
              <a:rPr sz="1350" spc="-12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52323"/>
                </a:solidFill>
                <a:latin typeface="Verdana"/>
                <a:cs typeface="Verdana"/>
              </a:rPr>
              <a:t>with</a:t>
            </a:r>
            <a:r>
              <a:rPr sz="1350" spc="-12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meaningful</a:t>
            </a:r>
            <a:r>
              <a:rPr sz="1350" spc="-12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opportunities.</a:t>
            </a:r>
            <a:r>
              <a:rPr sz="1350" spc="-13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52323"/>
                </a:solidFill>
                <a:latin typeface="Verdana"/>
                <a:cs typeface="Verdana"/>
              </a:rPr>
              <a:t>This 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platform</a:t>
            </a:r>
            <a:r>
              <a:rPr sz="1350" spc="-18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empowers</a:t>
            </a:r>
            <a:r>
              <a:rPr sz="1350" spc="-17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52323"/>
                </a:solidFill>
                <a:latin typeface="Verdana"/>
                <a:cs typeface="Verdana"/>
              </a:rPr>
              <a:t>individuals</a:t>
            </a:r>
            <a:r>
              <a:rPr sz="1350" spc="-15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52323"/>
                </a:solidFill>
                <a:latin typeface="Verdana"/>
                <a:cs typeface="Verdana"/>
              </a:rPr>
              <a:t>and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businesses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alike.</a:t>
            </a:r>
            <a:r>
              <a:rPr sz="1350" spc="-15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52323"/>
                </a:solidFill>
                <a:latin typeface="Verdana"/>
                <a:cs typeface="Verdana"/>
              </a:rPr>
              <a:t>Discover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how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52323"/>
                </a:solidFill>
                <a:latin typeface="Verdana"/>
                <a:cs typeface="Verdana"/>
              </a:rPr>
              <a:t>we're </a:t>
            </a:r>
            <a:r>
              <a:rPr sz="1350" spc="-45" dirty="0">
                <a:solidFill>
                  <a:srgbClr val="252323"/>
                </a:solidFill>
                <a:latin typeface="Verdana"/>
                <a:cs typeface="Verdana"/>
              </a:rPr>
              <a:t>shaping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252323"/>
                </a:solidFill>
                <a:latin typeface="Verdana"/>
                <a:cs typeface="Verdana"/>
              </a:rPr>
              <a:t>the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52323"/>
                </a:solidFill>
                <a:latin typeface="Verdana"/>
                <a:cs typeface="Verdana"/>
              </a:rPr>
              <a:t>next</a:t>
            </a:r>
            <a:r>
              <a:rPr sz="1350" spc="-15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52323"/>
                </a:solidFill>
                <a:latin typeface="Verdana"/>
                <a:cs typeface="Verdana"/>
              </a:rPr>
              <a:t>generation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252323"/>
                </a:solidFill>
                <a:latin typeface="Verdana"/>
                <a:cs typeface="Verdana"/>
              </a:rPr>
              <a:t>of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52323"/>
                </a:solidFill>
                <a:latin typeface="Verdana"/>
                <a:cs typeface="Verdana"/>
              </a:rPr>
              <a:t>work.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4285995" cy="64382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755" y="1917319"/>
            <a:ext cx="7214234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85" dirty="0"/>
              <a:t>The</a:t>
            </a:r>
            <a:r>
              <a:rPr spc="-180" dirty="0"/>
              <a:t> </a:t>
            </a:r>
            <a:r>
              <a:rPr spc="-330" dirty="0"/>
              <a:t>Freelance</a:t>
            </a:r>
            <a:r>
              <a:rPr spc="-145" dirty="0"/>
              <a:t> </a:t>
            </a:r>
            <a:r>
              <a:rPr spc="-405" dirty="0"/>
              <a:t>Economy</a:t>
            </a:r>
            <a:r>
              <a:rPr spc="-145" dirty="0"/>
              <a:t> </a:t>
            </a:r>
            <a:r>
              <a:rPr spc="-380" dirty="0"/>
              <a:t>Landscape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755" y="2952369"/>
            <a:ext cx="3074670" cy="140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190" dirty="0">
                <a:solidFill>
                  <a:srgbClr val="F85F86"/>
                </a:solidFill>
                <a:latin typeface="Georgia"/>
                <a:cs typeface="Georgia"/>
              </a:rPr>
              <a:t>Market</a:t>
            </a:r>
            <a:r>
              <a:rPr sz="1850" b="1" spc="-85" dirty="0">
                <a:solidFill>
                  <a:srgbClr val="F85F86"/>
                </a:solidFill>
                <a:latin typeface="Georgia"/>
                <a:cs typeface="Georgia"/>
              </a:rPr>
              <a:t> </a:t>
            </a:r>
            <a:r>
              <a:rPr sz="1850" b="1" spc="-10" dirty="0">
                <a:solidFill>
                  <a:srgbClr val="F85F86"/>
                </a:solidFill>
                <a:latin typeface="Georgia"/>
                <a:cs typeface="Georgia"/>
              </a:rPr>
              <a:t>Growth</a:t>
            </a:r>
            <a:endParaRPr sz="1850">
              <a:latin typeface="Georgia"/>
              <a:cs typeface="Georgia"/>
            </a:endParaRPr>
          </a:p>
          <a:p>
            <a:pPr marL="285115" marR="577215">
              <a:lnSpc>
                <a:spcPct val="161500"/>
              </a:lnSpc>
              <a:spcBef>
                <a:spcPts val="815"/>
              </a:spcBef>
            </a:pPr>
            <a:r>
              <a:rPr sz="1350" spc="-100" dirty="0">
                <a:solidFill>
                  <a:srgbClr val="252323"/>
                </a:solidFill>
                <a:latin typeface="Verdana"/>
                <a:cs typeface="Verdana"/>
              </a:rPr>
              <a:t>$1.3T</a:t>
            </a:r>
            <a:r>
              <a:rPr sz="1350" spc="-10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52323"/>
                </a:solidFill>
                <a:latin typeface="Verdana"/>
                <a:cs typeface="Verdana"/>
              </a:rPr>
              <a:t>global</a:t>
            </a:r>
            <a:r>
              <a:rPr sz="1350" spc="-10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252323"/>
                </a:solidFill>
                <a:latin typeface="Verdana"/>
                <a:cs typeface="Verdana"/>
              </a:rPr>
              <a:t>market </a:t>
            </a:r>
            <a:r>
              <a:rPr sz="1350" spc="-90" dirty="0">
                <a:solidFill>
                  <a:srgbClr val="252323"/>
                </a:solidFill>
                <a:latin typeface="Verdana"/>
                <a:cs typeface="Verdana"/>
              </a:rPr>
              <a:t>by</a:t>
            </a:r>
            <a:r>
              <a:rPr sz="1350" spc="-11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2024 </a:t>
            </a:r>
            <a:r>
              <a:rPr sz="1350" spc="-30" dirty="0">
                <a:solidFill>
                  <a:srgbClr val="252323"/>
                </a:solidFill>
                <a:latin typeface="Verdana"/>
                <a:cs typeface="Verdana"/>
              </a:rPr>
              <a:t>59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252323"/>
                </a:solidFill>
                <a:latin typeface="Verdana"/>
                <a:cs typeface="Verdana"/>
              </a:rPr>
              <a:t>million</a:t>
            </a:r>
            <a:r>
              <a:rPr sz="1350" spc="-14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52323"/>
                </a:solidFill>
                <a:latin typeface="Verdana"/>
                <a:cs typeface="Verdana"/>
              </a:rPr>
              <a:t>US</a:t>
            </a:r>
            <a:r>
              <a:rPr sz="1350" spc="-16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52323"/>
                </a:solidFill>
                <a:latin typeface="Verdana"/>
                <a:cs typeface="Verdana"/>
              </a:rPr>
              <a:t>freelancers</a:t>
            </a:r>
            <a:endParaRPr sz="1350">
              <a:latin typeface="Verdana"/>
              <a:cs typeface="Verdana"/>
            </a:endParaRPr>
          </a:p>
          <a:p>
            <a:pPr marL="285115">
              <a:lnSpc>
                <a:spcPct val="100000"/>
              </a:lnSpc>
              <a:spcBef>
                <a:spcPts val="1005"/>
              </a:spcBef>
            </a:pP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36%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52323"/>
                </a:solidFill>
                <a:latin typeface="Verdana"/>
                <a:cs typeface="Verdana"/>
              </a:rPr>
              <a:t>of</a:t>
            </a:r>
            <a:r>
              <a:rPr sz="1350" spc="-17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52323"/>
                </a:solidFill>
                <a:latin typeface="Verdana"/>
                <a:cs typeface="Verdana"/>
              </a:rPr>
              <a:t>the</a:t>
            </a:r>
            <a:r>
              <a:rPr sz="1350" spc="-19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workforce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252323"/>
                </a:solidFill>
                <a:latin typeface="Verdana"/>
                <a:cs typeface="Verdana"/>
              </a:rPr>
              <a:t>is</a:t>
            </a:r>
            <a:r>
              <a:rPr sz="1350" spc="-18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252323"/>
                </a:solidFill>
                <a:latin typeface="Verdana"/>
                <a:cs typeface="Verdana"/>
              </a:rPr>
              <a:t>freelancing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22390" y="2952369"/>
            <a:ext cx="4726940" cy="1296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195" dirty="0">
                <a:solidFill>
                  <a:srgbClr val="F85F86"/>
                </a:solidFill>
                <a:latin typeface="Georgia"/>
                <a:cs typeface="Georgia"/>
              </a:rPr>
              <a:t>Future</a:t>
            </a:r>
            <a:r>
              <a:rPr sz="1850" b="1" spc="-80" dirty="0">
                <a:solidFill>
                  <a:srgbClr val="F85F86"/>
                </a:solidFill>
                <a:latin typeface="Georgia"/>
                <a:cs typeface="Georgia"/>
              </a:rPr>
              <a:t> </a:t>
            </a:r>
            <a:r>
              <a:rPr sz="1850" b="1" spc="-10" dirty="0">
                <a:solidFill>
                  <a:srgbClr val="F85F86"/>
                </a:solidFill>
                <a:latin typeface="Georgia"/>
                <a:cs typeface="Georgia"/>
              </a:rPr>
              <a:t>Growth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34400"/>
              </a:lnSpc>
              <a:spcBef>
                <a:spcPts val="1250"/>
              </a:spcBef>
            </a:pP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The</a:t>
            </a:r>
            <a:r>
              <a:rPr sz="1350" spc="-18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freelance</a:t>
            </a:r>
            <a:r>
              <a:rPr sz="1350" spc="-19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market</a:t>
            </a:r>
            <a:r>
              <a:rPr sz="1350" spc="-15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252323"/>
                </a:solidFill>
                <a:latin typeface="Verdana"/>
                <a:cs typeface="Verdana"/>
              </a:rPr>
              <a:t>is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booming.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Expect</a:t>
            </a:r>
            <a:r>
              <a:rPr sz="1350" spc="-15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252323"/>
                </a:solidFill>
                <a:latin typeface="Verdana"/>
                <a:cs typeface="Verdana"/>
              </a:rPr>
              <a:t>a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50%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growth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52323"/>
                </a:solidFill>
                <a:latin typeface="Verdana"/>
                <a:cs typeface="Verdana"/>
              </a:rPr>
              <a:t>over </a:t>
            </a:r>
            <a:r>
              <a:rPr sz="1350" spc="-35" dirty="0">
                <a:solidFill>
                  <a:srgbClr val="252323"/>
                </a:solidFill>
                <a:latin typeface="Verdana"/>
                <a:cs typeface="Verdana"/>
              </a:rPr>
              <a:t>the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52323"/>
                </a:solidFill>
                <a:latin typeface="Verdana"/>
                <a:cs typeface="Verdana"/>
              </a:rPr>
              <a:t>next</a:t>
            </a:r>
            <a:r>
              <a:rPr sz="1350" spc="-14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252323"/>
                </a:solidFill>
                <a:latin typeface="Verdana"/>
                <a:cs typeface="Verdana"/>
              </a:rPr>
              <a:t>five</a:t>
            </a:r>
            <a:r>
              <a:rPr sz="1350" spc="-16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52323"/>
                </a:solidFill>
                <a:latin typeface="Verdana"/>
                <a:cs typeface="Verdana"/>
              </a:rPr>
              <a:t>years.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252323"/>
                </a:solidFill>
                <a:latin typeface="Verdana"/>
                <a:cs typeface="Verdana"/>
              </a:rPr>
              <a:t>The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52323"/>
                </a:solidFill>
                <a:latin typeface="Verdana"/>
                <a:cs typeface="Verdana"/>
              </a:rPr>
              <a:t>demand</a:t>
            </a:r>
            <a:r>
              <a:rPr sz="1350" spc="-16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252323"/>
                </a:solidFill>
                <a:latin typeface="Verdana"/>
                <a:cs typeface="Verdana"/>
              </a:rPr>
              <a:t>for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52323"/>
                </a:solidFill>
                <a:latin typeface="Verdana"/>
                <a:cs typeface="Verdana"/>
              </a:rPr>
              <a:t>skilled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52323"/>
                </a:solidFill>
                <a:latin typeface="Verdana"/>
                <a:cs typeface="Verdana"/>
              </a:rPr>
              <a:t>freelancers</a:t>
            </a:r>
            <a:r>
              <a:rPr sz="1350" spc="-14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52323"/>
                </a:solidFill>
                <a:latin typeface="Verdana"/>
                <a:cs typeface="Verdana"/>
              </a:rPr>
              <a:t>is </a:t>
            </a:r>
            <a:r>
              <a:rPr sz="1350" spc="-30" dirty="0">
                <a:solidFill>
                  <a:srgbClr val="252323"/>
                </a:solidFill>
                <a:latin typeface="Verdana"/>
                <a:cs typeface="Verdana"/>
              </a:rPr>
              <a:t>increasing</a:t>
            </a:r>
            <a:r>
              <a:rPr sz="1350" spc="-114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52323"/>
                </a:solidFill>
                <a:latin typeface="Verdana"/>
                <a:cs typeface="Verdana"/>
              </a:rPr>
              <a:t>rapidly.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3569842"/>
            <a:ext cx="57150" cy="571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3903217"/>
            <a:ext cx="57150" cy="571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4236592"/>
            <a:ext cx="57150" cy="57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3878" y="1324635"/>
            <a:ext cx="5223510" cy="1212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100"/>
              </a:spcBef>
            </a:pPr>
            <a:r>
              <a:rPr spc="-375" dirty="0"/>
              <a:t>Problem:</a:t>
            </a:r>
            <a:r>
              <a:rPr spc="-275" dirty="0"/>
              <a:t> </a:t>
            </a:r>
            <a:r>
              <a:rPr spc="-350" dirty="0"/>
              <a:t>Freelancer</a:t>
            </a:r>
            <a:r>
              <a:rPr spc="-235" dirty="0"/>
              <a:t> </a:t>
            </a:r>
            <a:r>
              <a:rPr spc="-385" dirty="0"/>
              <a:t>Pain </a:t>
            </a:r>
            <a:r>
              <a:rPr spc="-10" dirty="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1663" y="2998089"/>
            <a:ext cx="2066925" cy="953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200" dirty="0">
                <a:solidFill>
                  <a:srgbClr val="252323"/>
                </a:solidFill>
                <a:latin typeface="Georgia"/>
                <a:cs typeface="Georgia"/>
              </a:rPr>
              <a:t>Income</a:t>
            </a:r>
            <a:r>
              <a:rPr sz="1850" b="1" spc="-30" dirty="0">
                <a:solidFill>
                  <a:srgbClr val="252323"/>
                </a:solidFill>
                <a:latin typeface="Georgia"/>
                <a:cs typeface="Georgia"/>
              </a:rPr>
              <a:t> </a:t>
            </a:r>
            <a:r>
              <a:rPr sz="1850" b="1" spc="-20" dirty="0">
                <a:solidFill>
                  <a:srgbClr val="252323"/>
                </a:solidFill>
                <a:latin typeface="Georgia"/>
                <a:cs typeface="Georgia"/>
              </a:rPr>
              <a:t>Instability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34800"/>
              </a:lnSpc>
              <a:spcBef>
                <a:spcPts val="720"/>
              </a:spcBef>
            </a:pP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Freelancers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often</a:t>
            </a:r>
            <a:r>
              <a:rPr sz="1350" spc="-14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52323"/>
                </a:solidFill>
                <a:latin typeface="Verdana"/>
                <a:cs typeface="Verdana"/>
              </a:rPr>
              <a:t>struggle with</a:t>
            </a:r>
            <a:r>
              <a:rPr sz="1350" spc="-12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inconsistent</a:t>
            </a:r>
            <a:r>
              <a:rPr sz="1350" spc="-12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52323"/>
                </a:solidFill>
                <a:latin typeface="Verdana"/>
                <a:cs typeface="Verdana"/>
              </a:rPr>
              <a:t>income.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89060" y="2998089"/>
            <a:ext cx="2163445" cy="953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135" dirty="0">
                <a:solidFill>
                  <a:srgbClr val="252323"/>
                </a:solidFill>
                <a:latin typeface="Georgia"/>
                <a:cs typeface="Georgia"/>
              </a:rPr>
              <a:t>Client</a:t>
            </a:r>
            <a:r>
              <a:rPr sz="1850" b="1" spc="-105" dirty="0">
                <a:solidFill>
                  <a:srgbClr val="252323"/>
                </a:solidFill>
                <a:latin typeface="Georgia"/>
                <a:cs typeface="Georgia"/>
              </a:rPr>
              <a:t> </a:t>
            </a:r>
            <a:r>
              <a:rPr sz="1850" b="1" spc="-10" dirty="0">
                <a:solidFill>
                  <a:srgbClr val="252323"/>
                </a:solidFill>
                <a:latin typeface="Georgia"/>
                <a:cs typeface="Georgia"/>
              </a:rPr>
              <a:t>Acquisition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34800"/>
              </a:lnSpc>
              <a:spcBef>
                <a:spcPts val="720"/>
              </a:spcBef>
            </a:pP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Finding</a:t>
            </a:r>
            <a:r>
              <a:rPr sz="1350" spc="-18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clients</a:t>
            </a:r>
            <a:r>
              <a:rPr sz="1350" spc="-18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52323"/>
                </a:solidFill>
                <a:latin typeface="Verdana"/>
                <a:cs typeface="Verdana"/>
              </a:rPr>
              <a:t>can</a:t>
            </a:r>
            <a:r>
              <a:rPr sz="1350" spc="-18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252323"/>
                </a:solidFill>
                <a:latin typeface="Verdana"/>
                <a:cs typeface="Verdana"/>
              </a:rPr>
              <a:t>be</a:t>
            </a:r>
            <a:r>
              <a:rPr sz="1350" spc="-18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252323"/>
                </a:solidFill>
                <a:latin typeface="Verdana"/>
                <a:cs typeface="Verdana"/>
              </a:rPr>
              <a:t>time- consuming</a:t>
            </a:r>
            <a:r>
              <a:rPr sz="1350" spc="-15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15" dirty="0">
                <a:solidFill>
                  <a:srgbClr val="252323"/>
                </a:solidFill>
                <a:latin typeface="Verdana"/>
                <a:cs typeface="Verdana"/>
              </a:rPr>
              <a:t>and</a:t>
            </a:r>
            <a:r>
              <a:rPr sz="1350" spc="-14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52323"/>
                </a:solidFill>
                <a:latin typeface="Verdana"/>
                <a:cs typeface="Verdana"/>
              </a:rPr>
              <a:t>difficult.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1663" y="4312158"/>
            <a:ext cx="3564890" cy="675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200" dirty="0">
                <a:solidFill>
                  <a:srgbClr val="252323"/>
                </a:solidFill>
                <a:latin typeface="Georgia"/>
                <a:cs typeface="Georgia"/>
              </a:rPr>
              <a:t>Complex</a:t>
            </a:r>
            <a:r>
              <a:rPr sz="1850" b="1" spc="70" dirty="0">
                <a:solidFill>
                  <a:srgbClr val="252323"/>
                </a:solidFill>
                <a:latin typeface="Georgia"/>
                <a:cs typeface="Georgia"/>
              </a:rPr>
              <a:t> </a:t>
            </a:r>
            <a:r>
              <a:rPr sz="1850" b="1" spc="-10" dirty="0">
                <a:solidFill>
                  <a:srgbClr val="252323"/>
                </a:solidFill>
                <a:latin typeface="Georgia"/>
                <a:cs typeface="Georgia"/>
              </a:rPr>
              <a:t>Payments</a:t>
            </a:r>
            <a:endParaRPr sz="18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Managing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payments</a:t>
            </a:r>
            <a:r>
              <a:rPr sz="1350" spc="-14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and</a:t>
            </a:r>
            <a:r>
              <a:rPr sz="1350" spc="-16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invoicing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252323"/>
                </a:solidFill>
                <a:latin typeface="Verdana"/>
                <a:cs typeface="Verdana"/>
              </a:rPr>
              <a:t>is</a:t>
            </a:r>
            <a:r>
              <a:rPr sz="1350" spc="-15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252323"/>
                </a:solidFill>
                <a:latin typeface="Verdana"/>
                <a:cs typeface="Verdana"/>
              </a:rPr>
              <a:t>a</a:t>
            </a:r>
            <a:r>
              <a:rPr sz="1350" spc="-17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52323"/>
                </a:solidFill>
                <a:latin typeface="Verdana"/>
                <a:cs typeface="Verdana"/>
              </a:rPr>
              <a:t>hassle.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4285995" cy="643826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886261" y="3034601"/>
            <a:ext cx="390525" cy="390525"/>
            <a:chOff x="4886261" y="3034601"/>
            <a:chExt cx="390525" cy="390525"/>
          </a:xfrm>
        </p:grpSpPr>
        <p:sp>
          <p:nvSpPr>
            <p:cNvPr id="8" name="object 8"/>
            <p:cNvSpPr/>
            <p:nvPr/>
          </p:nvSpPr>
          <p:spPr>
            <a:xfrm>
              <a:off x="4891023" y="303936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438" y="0"/>
                  </a:moveTo>
                  <a:lnTo>
                    <a:pt x="51688" y="0"/>
                  </a:lnTo>
                  <a:lnTo>
                    <a:pt x="48133" y="381"/>
                  </a:lnTo>
                  <a:lnTo>
                    <a:pt x="13715" y="18796"/>
                  </a:lnTo>
                  <a:lnTo>
                    <a:pt x="0" y="51689"/>
                  </a:lnTo>
                  <a:lnTo>
                    <a:pt x="0" y="329438"/>
                  </a:lnTo>
                  <a:lnTo>
                    <a:pt x="18796" y="367411"/>
                  </a:lnTo>
                  <a:lnTo>
                    <a:pt x="51688" y="381000"/>
                  </a:lnTo>
                  <a:lnTo>
                    <a:pt x="329438" y="381000"/>
                  </a:lnTo>
                  <a:lnTo>
                    <a:pt x="367411" y="362331"/>
                  </a:lnTo>
                  <a:lnTo>
                    <a:pt x="381000" y="329438"/>
                  </a:lnTo>
                  <a:lnTo>
                    <a:pt x="381000" y="51689"/>
                  </a:lnTo>
                  <a:lnTo>
                    <a:pt x="362330" y="13716"/>
                  </a:lnTo>
                  <a:lnTo>
                    <a:pt x="332993" y="381"/>
                  </a:lnTo>
                  <a:lnTo>
                    <a:pt x="329438" y="0"/>
                  </a:lnTo>
                  <a:close/>
                </a:path>
              </a:pathLst>
            </a:custGeom>
            <a:solidFill>
              <a:srgbClr val="DF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91023" y="303936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89"/>
                  </a:lnTo>
                  <a:lnTo>
                    <a:pt x="380" y="48006"/>
                  </a:lnTo>
                  <a:lnTo>
                    <a:pt x="1142" y="44450"/>
                  </a:lnTo>
                  <a:lnTo>
                    <a:pt x="1777" y="40894"/>
                  </a:lnTo>
                  <a:lnTo>
                    <a:pt x="2921" y="37465"/>
                  </a:lnTo>
                  <a:lnTo>
                    <a:pt x="27686" y="7366"/>
                  </a:lnTo>
                  <a:lnTo>
                    <a:pt x="44576" y="1143"/>
                  </a:lnTo>
                  <a:lnTo>
                    <a:pt x="48133" y="381"/>
                  </a:lnTo>
                  <a:lnTo>
                    <a:pt x="51688" y="0"/>
                  </a:lnTo>
                  <a:lnTo>
                    <a:pt x="55245" y="0"/>
                  </a:lnTo>
                  <a:lnTo>
                    <a:pt x="325754" y="0"/>
                  </a:lnTo>
                  <a:lnTo>
                    <a:pt x="329438" y="0"/>
                  </a:lnTo>
                  <a:lnTo>
                    <a:pt x="332993" y="381"/>
                  </a:lnTo>
                  <a:lnTo>
                    <a:pt x="336550" y="1143"/>
                  </a:lnTo>
                  <a:lnTo>
                    <a:pt x="340105" y="1778"/>
                  </a:lnTo>
                  <a:lnTo>
                    <a:pt x="376809" y="34162"/>
                  </a:lnTo>
                  <a:lnTo>
                    <a:pt x="381000" y="51689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438"/>
                  </a:lnTo>
                  <a:lnTo>
                    <a:pt x="380746" y="332994"/>
                  </a:lnTo>
                  <a:lnTo>
                    <a:pt x="379984" y="336550"/>
                  </a:lnTo>
                  <a:lnTo>
                    <a:pt x="379349" y="340106"/>
                  </a:lnTo>
                  <a:lnTo>
                    <a:pt x="356488" y="371729"/>
                  </a:lnTo>
                  <a:lnTo>
                    <a:pt x="336550" y="379984"/>
                  </a:lnTo>
                  <a:lnTo>
                    <a:pt x="332993" y="380746"/>
                  </a:lnTo>
                  <a:lnTo>
                    <a:pt x="329438" y="381000"/>
                  </a:lnTo>
                  <a:lnTo>
                    <a:pt x="325754" y="381000"/>
                  </a:lnTo>
                  <a:lnTo>
                    <a:pt x="55245" y="381000"/>
                  </a:lnTo>
                  <a:lnTo>
                    <a:pt x="51688" y="381000"/>
                  </a:lnTo>
                  <a:lnTo>
                    <a:pt x="48133" y="380746"/>
                  </a:lnTo>
                  <a:lnTo>
                    <a:pt x="9398" y="356489"/>
                  </a:lnTo>
                  <a:lnTo>
                    <a:pt x="0" y="329438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C5BB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35474" y="3133597"/>
              <a:ext cx="283210" cy="188595"/>
            </a:xfrm>
            <a:custGeom>
              <a:avLst/>
              <a:gdLst/>
              <a:ahLst/>
              <a:cxnLst/>
              <a:rect l="l" t="t" r="r" b="b"/>
              <a:pathLst>
                <a:path w="283210" h="188595">
                  <a:moveTo>
                    <a:pt x="282702" y="47129"/>
                  </a:moveTo>
                  <a:lnTo>
                    <a:pt x="267081" y="47129"/>
                  </a:lnTo>
                  <a:lnTo>
                    <a:pt x="267081" y="62865"/>
                  </a:lnTo>
                  <a:lnTo>
                    <a:pt x="267081" y="125603"/>
                  </a:lnTo>
                  <a:lnTo>
                    <a:pt x="267081" y="141351"/>
                  </a:lnTo>
                  <a:lnTo>
                    <a:pt x="267081" y="165735"/>
                  </a:lnTo>
                  <a:lnTo>
                    <a:pt x="259969" y="172720"/>
                  </a:lnTo>
                  <a:lnTo>
                    <a:pt x="235585" y="172720"/>
                  </a:lnTo>
                  <a:lnTo>
                    <a:pt x="238125" y="160528"/>
                  </a:lnTo>
                  <a:lnTo>
                    <a:pt x="244856" y="150622"/>
                  </a:lnTo>
                  <a:lnTo>
                    <a:pt x="254762" y="143891"/>
                  </a:lnTo>
                  <a:lnTo>
                    <a:pt x="267081" y="141351"/>
                  </a:lnTo>
                  <a:lnTo>
                    <a:pt x="267081" y="125603"/>
                  </a:lnTo>
                  <a:lnTo>
                    <a:pt x="248666" y="129413"/>
                  </a:lnTo>
                  <a:lnTo>
                    <a:pt x="233680" y="139446"/>
                  </a:lnTo>
                  <a:lnTo>
                    <a:pt x="223647" y="154432"/>
                  </a:lnTo>
                  <a:lnTo>
                    <a:pt x="219837" y="172720"/>
                  </a:lnTo>
                  <a:lnTo>
                    <a:pt x="62738" y="172720"/>
                  </a:lnTo>
                  <a:lnTo>
                    <a:pt x="59055" y="154432"/>
                  </a:lnTo>
                  <a:lnTo>
                    <a:pt x="50292" y="141351"/>
                  </a:lnTo>
                  <a:lnTo>
                    <a:pt x="49022" y="139446"/>
                  </a:lnTo>
                  <a:lnTo>
                    <a:pt x="47117" y="138176"/>
                  </a:lnTo>
                  <a:lnTo>
                    <a:pt x="47117" y="172720"/>
                  </a:lnTo>
                  <a:lnTo>
                    <a:pt x="22733" y="172720"/>
                  </a:lnTo>
                  <a:lnTo>
                    <a:pt x="15621" y="165735"/>
                  </a:lnTo>
                  <a:lnTo>
                    <a:pt x="15621" y="141351"/>
                  </a:lnTo>
                  <a:lnTo>
                    <a:pt x="27940" y="143891"/>
                  </a:lnTo>
                  <a:lnTo>
                    <a:pt x="37846" y="150622"/>
                  </a:lnTo>
                  <a:lnTo>
                    <a:pt x="44577" y="160528"/>
                  </a:lnTo>
                  <a:lnTo>
                    <a:pt x="47117" y="172720"/>
                  </a:lnTo>
                  <a:lnTo>
                    <a:pt x="47117" y="138176"/>
                  </a:lnTo>
                  <a:lnTo>
                    <a:pt x="34036" y="129413"/>
                  </a:lnTo>
                  <a:lnTo>
                    <a:pt x="15621" y="125603"/>
                  </a:lnTo>
                  <a:lnTo>
                    <a:pt x="15621" y="62865"/>
                  </a:lnTo>
                  <a:lnTo>
                    <a:pt x="34036" y="59067"/>
                  </a:lnTo>
                  <a:lnTo>
                    <a:pt x="49022" y="49022"/>
                  </a:lnTo>
                  <a:lnTo>
                    <a:pt x="50292" y="47129"/>
                  </a:lnTo>
                  <a:lnTo>
                    <a:pt x="15621" y="47129"/>
                  </a:lnTo>
                  <a:lnTo>
                    <a:pt x="15621" y="22733"/>
                  </a:lnTo>
                  <a:lnTo>
                    <a:pt x="22733" y="15621"/>
                  </a:lnTo>
                  <a:lnTo>
                    <a:pt x="219837" y="15621"/>
                  </a:lnTo>
                  <a:lnTo>
                    <a:pt x="223647" y="34036"/>
                  </a:lnTo>
                  <a:lnTo>
                    <a:pt x="233680" y="49022"/>
                  </a:lnTo>
                  <a:lnTo>
                    <a:pt x="248666" y="59067"/>
                  </a:lnTo>
                  <a:lnTo>
                    <a:pt x="267081" y="62865"/>
                  </a:lnTo>
                  <a:lnTo>
                    <a:pt x="267081" y="47129"/>
                  </a:lnTo>
                  <a:lnTo>
                    <a:pt x="254762" y="44577"/>
                  </a:lnTo>
                  <a:lnTo>
                    <a:pt x="244856" y="37846"/>
                  </a:lnTo>
                  <a:lnTo>
                    <a:pt x="238125" y="27940"/>
                  </a:lnTo>
                  <a:lnTo>
                    <a:pt x="235585" y="15621"/>
                  </a:lnTo>
                  <a:lnTo>
                    <a:pt x="277876" y="15621"/>
                  </a:lnTo>
                  <a:lnTo>
                    <a:pt x="273558" y="9156"/>
                  </a:lnTo>
                  <a:lnTo>
                    <a:pt x="263525" y="2413"/>
                  </a:lnTo>
                  <a:lnTo>
                    <a:pt x="251333" y="0"/>
                  </a:lnTo>
                  <a:lnTo>
                    <a:pt x="31369" y="0"/>
                  </a:lnTo>
                  <a:lnTo>
                    <a:pt x="19177" y="2413"/>
                  </a:lnTo>
                  <a:lnTo>
                    <a:pt x="9144" y="9156"/>
                  </a:lnTo>
                  <a:lnTo>
                    <a:pt x="2413" y="19177"/>
                  </a:lnTo>
                  <a:lnTo>
                    <a:pt x="0" y="31381"/>
                  </a:lnTo>
                  <a:lnTo>
                    <a:pt x="0" y="157099"/>
                  </a:lnTo>
                  <a:lnTo>
                    <a:pt x="2413" y="169291"/>
                  </a:lnTo>
                  <a:lnTo>
                    <a:pt x="9144" y="179324"/>
                  </a:lnTo>
                  <a:lnTo>
                    <a:pt x="19177" y="186055"/>
                  </a:lnTo>
                  <a:lnTo>
                    <a:pt x="31369" y="188468"/>
                  </a:lnTo>
                  <a:lnTo>
                    <a:pt x="251333" y="188468"/>
                  </a:lnTo>
                  <a:lnTo>
                    <a:pt x="263525" y="186055"/>
                  </a:lnTo>
                  <a:lnTo>
                    <a:pt x="273558" y="179324"/>
                  </a:lnTo>
                  <a:lnTo>
                    <a:pt x="277876" y="172720"/>
                  </a:lnTo>
                  <a:lnTo>
                    <a:pt x="280289" y="169291"/>
                  </a:lnTo>
                  <a:lnTo>
                    <a:pt x="282702" y="157099"/>
                  </a:lnTo>
                  <a:lnTo>
                    <a:pt x="282702" y="141351"/>
                  </a:lnTo>
                  <a:lnTo>
                    <a:pt x="282702" y="47129"/>
                  </a:lnTo>
                  <a:close/>
                </a:path>
              </a:pathLst>
            </a:custGeom>
            <a:solidFill>
              <a:srgbClr val="25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29707" y="3180715"/>
              <a:ext cx="94233" cy="9423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951095" y="3149218"/>
              <a:ext cx="267335" cy="31750"/>
            </a:xfrm>
            <a:custGeom>
              <a:avLst/>
              <a:gdLst/>
              <a:ahLst/>
              <a:cxnLst/>
              <a:rect l="l" t="t" r="r" b="b"/>
              <a:pathLst>
                <a:path w="267335" h="31750">
                  <a:moveTo>
                    <a:pt x="47117" y="0"/>
                  </a:moveTo>
                  <a:lnTo>
                    <a:pt x="31496" y="0"/>
                  </a:lnTo>
                  <a:lnTo>
                    <a:pt x="28956" y="12319"/>
                  </a:lnTo>
                  <a:lnTo>
                    <a:pt x="22225" y="22225"/>
                  </a:lnTo>
                  <a:lnTo>
                    <a:pt x="12319" y="28956"/>
                  </a:lnTo>
                  <a:lnTo>
                    <a:pt x="0" y="31508"/>
                  </a:lnTo>
                  <a:lnTo>
                    <a:pt x="34671" y="31508"/>
                  </a:lnTo>
                  <a:lnTo>
                    <a:pt x="43434" y="18415"/>
                  </a:lnTo>
                  <a:lnTo>
                    <a:pt x="47117" y="0"/>
                  </a:lnTo>
                  <a:close/>
                </a:path>
                <a:path w="267335" h="31750">
                  <a:moveTo>
                    <a:pt x="267081" y="15760"/>
                  </a:moveTo>
                  <a:lnTo>
                    <a:pt x="264668" y="3556"/>
                  </a:lnTo>
                  <a:lnTo>
                    <a:pt x="262255" y="0"/>
                  </a:lnTo>
                  <a:lnTo>
                    <a:pt x="244348" y="0"/>
                  </a:lnTo>
                  <a:lnTo>
                    <a:pt x="251460" y="7112"/>
                  </a:lnTo>
                  <a:lnTo>
                    <a:pt x="251460" y="31508"/>
                  </a:lnTo>
                  <a:lnTo>
                    <a:pt x="267081" y="31508"/>
                  </a:lnTo>
                  <a:lnTo>
                    <a:pt x="267081" y="15760"/>
                  </a:lnTo>
                  <a:close/>
                </a:path>
              </a:pathLst>
            </a:custGeom>
            <a:solidFill>
              <a:srgbClr val="25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943786" y="3035490"/>
            <a:ext cx="390525" cy="390525"/>
            <a:chOff x="7943786" y="3035490"/>
            <a:chExt cx="390525" cy="390525"/>
          </a:xfrm>
        </p:grpSpPr>
        <p:sp>
          <p:nvSpPr>
            <p:cNvPr id="14" name="object 14"/>
            <p:cNvSpPr/>
            <p:nvPr/>
          </p:nvSpPr>
          <p:spPr>
            <a:xfrm>
              <a:off x="7948548" y="3040253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437" y="0"/>
                  </a:moveTo>
                  <a:lnTo>
                    <a:pt x="51689" y="0"/>
                  </a:lnTo>
                  <a:lnTo>
                    <a:pt x="48132" y="380"/>
                  </a:lnTo>
                  <a:lnTo>
                    <a:pt x="13716" y="18795"/>
                  </a:lnTo>
                  <a:lnTo>
                    <a:pt x="0" y="51688"/>
                  </a:lnTo>
                  <a:lnTo>
                    <a:pt x="0" y="329437"/>
                  </a:lnTo>
                  <a:lnTo>
                    <a:pt x="18796" y="367410"/>
                  </a:lnTo>
                  <a:lnTo>
                    <a:pt x="51689" y="380999"/>
                  </a:lnTo>
                  <a:lnTo>
                    <a:pt x="329437" y="380999"/>
                  </a:lnTo>
                  <a:lnTo>
                    <a:pt x="367410" y="362330"/>
                  </a:lnTo>
                  <a:lnTo>
                    <a:pt x="381000" y="329437"/>
                  </a:lnTo>
                  <a:lnTo>
                    <a:pt x="381000" y="51688"/>
                  </a:lnTo>
                  <a:lnTo>
                    <a:pt x="362330" y="13715"/>
                  </a:lnTo>
                  <a:lnTo>
                    <a:pt x="332994" y="380"/>
                  </a:lnTo>
                  <a:lnTo>
                    <a:pt x="329437" y="0"/>
                  </a:lnTo>
                  <a:close/>
                </a:path>
              </a:pathLst>
            </a:custGeom>
            <a:solidFill>
              <a:srgbClr val="DF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948548" y="3040253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4"/>
                  </a:moveTo>
                  <a:lnTo>
                    <a:pt x="0" y="55244"/>
                  </a:lnTo>
                  <a:lnTo>
                    <a:pt x="0" y="51688"/>
                  </a:lnTo>
                  <a:lnTo>
                    <a:pt x="380" y="48132"/>
                  </a:lnTo>
                  <a:lnTo>
                    <a:pt x="1143" y="44576"/>
                  </a:lnTo>
                  <a:lnTo>
                    <a:pt x="1777" y="41020"/>
                  </a:lnTo>
                  <a:lnTo>
                    <a:pt x="2921" y="37464"/>
                  </a:lnTo>
                  <a:lnTo>
                    <a:pt x="4318" y="34162"/>
                  </a:lnTo>
                  <a:lnTo>
                    <a:pt x="5587" y="30860"/>
                  </a:lnTo>
                  <a:lnTo>
                    <a:pt x="7366" y="27685"/>
                  </a:lnTo>
                  <a:lnTo>
                    <a:pt x="9398" y="24637"/>
                  </a:lnTo>
                  <a:lnTo>
                    <a:pt x="11429" y="21589"/>
                  </a:lnTo>
                  <a:lnTo>
                    <a:pt x="13716" y="18795"/>
                  </a:lnTo>
                  <a:lnTo>
                    <a:pt x="44576" y="1142"/>
                  </a:lnTo>
                  <a:lnTo>
                    <a:pt x="48132" y="380"/>
                  </a:lnTo>
                  <a:lnTo>
                    <a:pt x="51689" y="0"/>
                  </a:lnTo>
                  <a:lnTo>
                    <a:pt x="55245" y="0"/>
                  </a:lnTo>
                  <a:lnTo>
                    <a:pt x="325754" y="0"/>
                  </a:lnTo>
                  <a:lnTo>
                    <a:pt x="329437" y="0"/>
                  </a:lnTo>
                  <a:lnTo>
                    <a:pt x="332994" y="380"/>
                  </a:lnTo>
                  <a:lnTo>
                    <a:pt x="336550" y="1142"/>
                  </a:lnTo>
                  <a:lnTo>
                    <a:pt x="340105" y="1777"/>
                  </a:lnTo>
                  <a:lnTo>
                    <a:pt x="343661" y="2920"/>
                  </a:lnTo>
                  <a:lnTo>
                    <a:pt x="346964" y="4317"/>
                  </a:lnTo>
                  <a:lnTo>
                    <a:pt x="350266" y="5587"/>
                  </a:lnTo>
                  <a:lnTo>
                    <a:pt x="379983" y="44576"/>
                  </a:lnTo>
                  <a:lnTo>
                    <a:pt x="381000" y="51688"/>
                  </a:lnTo>
                  <a:lnTo>
                    <a:pt x="381000" y="55244"/>
                  </a:lnTo>
                  <a:lnTo>
                    <a:pt x="381000" y="325754"/>
                  </a:lnTo>
                  <a:lnTo>
                    <a:pt x="381000" y="329437"/>
                  </a:lnTo>
                  <a:lnTo>
                    <a:pt x="380746" y="332993"/>
                  </a:lnTo>
                  <a:lnTo>
                    <a:pt x="379983" y="336549"/>
                  </a:lnTo>
                  <a:lnTo>
                    <a:pt x="379349" y="340105"/>
                  </a:lnTo>
                  <a:lnTo>
                    <a:pt x="336550" y="379983"/>
                  </a:lnTo>
                  <a:lnTo>
                    <a:pt x="329437" y="380999"/>
                  </a:lnTo>
                  <a:lnTo>
                    <a:pt x="325754" y="380999"/>
                  </a:lnTo>
                  <a:lnTo>
                    <a:pt x="55245" y="380999"/>
                  </a:lnTo>
                  <a:lnTo>
                    <a:pt x="51689" y="380999"/>
                  </a:lnTo>
                  <a:lnTo>
                    <a:pt x="48132" y="380745"/>
                  </a:lnTo>
                  <a:lnTo>
                    <a:pt x="44576" y="379983"/>
                  </a:lnTo>
                  <a:lnTo>
                    <a:pt x="41021" y="379348"/>
                  </a:lnTo>
                  <a:lnTo>
                    <a:pt x="16255" y="364870"/>
                  </a:lnTo>
                  <a:lnTo>
                    <a:pt x="13716" y="362330"/>
                  </a:lnTo>
                  <a:lnTo>
                    <a:pt x="11429" y="359536"/>
                  </a:lnTo>
                  <a:lnTo>
                    <a:pt x="9398" y="356488"/>
                  </a:lnTo>
                  <a:lnTo>
                    <a:pt x="7366" y="353440"/>
                  </a:lnTo>
                  <a:lnTo>
                    <a:pt x="5587" y="350265"/>
                  </a:lnTo>
                  <a:lnTo>
                    <a:pt x="4318" y="346963"/>
                  </a:lnTo>
                  <a:lnTo>
                    <a:pt x="2921" y="343661"/>
                  </a:lnTo>
                  <a:lnTo>
                    <a:pt x="1777" y="340105"/>
                  </a:lnTo>
                  <a:lnTo>
                    <a:pt x="1143" y="336549"/>
                  </a:lnTo>
                  <a:lnTo>
                    <a:pt x="380" y="332993"/>
                  </a:lnTo>
                  <a:lnTo>
                    <a:pt x="0" y="329437"/>
                  </a:lnTo>
                  <a:lnTo>
                    <a:pt x="0" y="325754"/>
                  </a:lnTo>
                  <a:close/>
                </a:path>
              </a:pathLst>
            </a:custGeom>
            <a:ln w="9525">
              <a:solidFill>
                <a:srgbClr val="C5BB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93125" y="3089402"/>
              <a:ext cx="253365" cy="280670"/>
            </a:xfrm>
            <a:custGeom>
              <a:avLst/>
              <a:gdLst/>
              <a:ahLst/>
              <a:cxnLst/>
              <a:rect l="l" t="t" r="r" b="b"/>
              <a:pathLst>
                <a:path w="253365" h="280670">
                  <a:moveTo>
                    <a:pt x="220725" y="0"/>
                  </a:moveTo>
                  <a:lnTo>
                    <a:pt x="207518" y="2667"/>
                  </a:lnTo>
                  <a:lnTo>
                    <a:pt x="195833" y="10414"/>
                  </a:lnTo>
                  <a:lnTo>
                    <a:pt x="154304" y="51943"/>
                  </a:lnTo>
                  <a:lnTo>
                    <a:pt x="78358" y="72644"/>
                  </a:lnTo>
                  <a:lnTo>
                    <a:pt x="47625" y="102489"/>
                  </a:lnTo>
                  <a:lnTo>
                    <a:pt x="0" y="261366"/>
                  </a:lnTo>
                  <a:lnTo>
                    <a:pt x="1904" y="268732"/>
                  </a:lnTo>
                  <a:lnTo>
                    <a:pt x="11810" y="278765"/>
                  </a:lnTo>
                  <a:lnTo>
                    <a:pt x="19176" y="280543"/>
                  </a:lnTo>
                  <a:lnTo>
                    <a:pt x="97535" y="257175"/>
                  </a:lnTo>
                  <a:lnTo>
                    <a:pt x="35941" y="257175"/>
                  </a:lnTo>
                  <a:lnTo>
                    <a:pt x="48387" y="244602"/>
                  </a:lnTo>
                  <a:lnTo>
                    <a:pt x="23368" y="244602"/>
                  </a:lnTo>
                  <a:lnTo>
                    <a:pt x="64516" y="107569"/>
                  </a:lnTo>
                  <a:lnTo>
                    <a:pt x="156337" y="69723"/>
                  </a:lnTo>
                  <a:lnTo>
                    <a:pt x="181228" y="69723"/>
                  </a:lnTo>
                  <a:lnTo>
                    <a:pt x="171450" y="59817"/>
                  </a:lnTo>
                  <a:lnTo>
                    <a:pt x="208152" y="22987"/>
                  </a:lnTo>
                  <a:lnTo>
                    <a:pt x="214122" y="19050"/>
                  </a:lnTo>
                  <a:lnTo>
                    <a:pt x="220725" y="17780"/>
                  </a:lnTo>
                  <a:lnTo>
                    <a:pt x="253110" y="17780"/>
                  </a:lnTo>
                  <a:lnTo>
                    <a:pt x="245745" y="10414"/>
                  </a:lnTo>
                  <a:lnTo>
                    <a:pt x="234060" y="2667"/>
                  </a:lnTo>
                  <a:lnTo>
                    <a:pt x="220725" y="0"/>
                  </a:lnTo>
                  <a:close/>
                </a:path>
              </a:pathLst>
            </a:custGeom>
            <a:solidFill>
              <a:srgbClr val="25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16493" y="3107182"/>
              <a:ext cx="257048" cy="23939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4886261" y="4348670"/>
            <a:ext cx="390525" cy="390525"/>
            <a:chOff x="4886261" y="4348670"/>
            <a:chExt cx="390525" cy="390525"/>
          </a:xfrm>
        </p:grpSpPr>
        <p:sp>
          <p:nvSpPr>
            <p:cNvPr id="19" name="object 19"/>
            <p:cNvSpPr/>
            <p:nvPr/>
          </p:nvSpPr>
          <p:spPr>
            <a:xfrm>
              <a:off x="4891023" y="4353433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438" y="0"/>
                  </a:moveTo>
                  <a:lnTo>
                    <a:pt x="51688" y="0"/>
                  </a:lnTo>
                  <a:lnTo>
                    <a:pt x="48133" y="381"/>
                  </a:lnTo>
                  <a:lnTo>
                    <a:pt x="13715" y="18795"/>
                  </a:lnTo>
                  <a:lnTo>
                    <a:pt x="0" y="51688"/>
                  </a:lnTo>
                  <a:lnTo>
                    <a:pt x="0" y="329438"/>
                  </a:lnTo>
                  <a:lnTo>
                    <a:pt x="18796" y="367411"/>
                  </a:lnTo>
                  <a:lnTo>
                    <a:pt x="51688" y="381000"/>
                  </a:lnTo>
                  <a:lnTo>
                    <a:pt x="329438" y="381000"/>
                  </a:lnTo>
                  <a:lnTo>
                    <a:pt x="367411" y="362331"/>
                  </a:lnTo>
                  <a:lnTo>
                    <a:pt x="381000" y="329438"/>
                  </a:lnTo>
                  <a:lnTo>
                    <a:pt x="381000" y="51688"/>
                  </a:lnTo>
                  <a:lnTo>
                    <a:pt x="362330" y="13715"/>
                  </a:lnTo>
                  <a:lnTo>
                    <a:pt x="332993" y="381"/>
                  </a:lnTo>
                  <a:lnTo>
                    <a:pt x="329438" y="0"/>
                  </a:lnTo>
                  <a:close/>
                </a:path>
              </a:pathLst>
            </a:custGeom>
            <a:solidFill>
              <a:srgbClr val="DF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91023" y="4353433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4"/>
                  </a:lnTo>
                  <a:lnTo>
                    <a:pt x="0" y="51688"/>
                  </a:lnTo>
                  <a:lnTo>
                    <a:pt x="380" y="48006"/>
                  </a:lnTo>
                  <a:lnTo>
                    <a:pt x="1142" y="44450"/>
                  </a:lnTo>
                  <a:lnTo>
                    <a:pt x="1777" y="40893"/>
                  </a:lnTo>
                  <a:lnTo>
                    <a:pt x="2921" y="37464"/>
                  </a:lnTo>
                  <a:lnTo>
                    <a:pt x="27686" y="7365"/>
                  </a:lnTo>
                  <a:lnTo>
                    <a:pt x="44576" y="1143"/>
                  </a:lnTo>
                  <a:lnTo>
                    <a:pt x="48133" y="381"/>
                  </a:lnTo>
                  <a:lnTo>
                    <a:pt x="51688" y="0"/>
                  </a:lnTo>
                  <a:lnTo>
                    <a:pt x="55245" y="0"/>
                  </a:lnTo>
                  <a:lnTo>
                    <a:pt x="325754" y="0"/>
                  </a:lnTo>
                  <a:lnTo>
                    <a:pt x="329438" y="0"/>
                  </a:lnTo>
                  <a:lnTo>
                    <a:pt x="332993" y="381"/>
                  </a:lnTo>
                  <a:lnTo>
                    <a:pt x="336550" y="1143"/>
                  </a:lnTo>
                  <a:lnTo>
                    <a:pt x="340105" y="1777"/>
                  </a:lnTo>
                  <a:lnTo>
                    <a:pt x="376809" y="34162"/>
                  </a:lnTo>
                  <a:lnTo>
                    <a:pt x="381000" y="51688"/>
                  </a:lnTo>
                  <a:lnTo>
                    <a:pt x="381000" y="55244"/>
                  </a:lnTo>
                  <a:lnTo>
                    <a:pt x="381000" y="325755"/>
                  </a:lnTo>
                  <a:lnTo>
                    <a:pt x="381000" y="329438"/>
                  </a:lnTo>
                  <a:lnTo>
                    <a:pt x="380746" y="332994"/>
                  </a:lnTo>
                  <a:lnTo>
                    <a:pt x="379984" y="336550"/>
                  </a:lnTo>
                  <a:lnTo>
                    <a:pt x="379349" y="340106"/>
                  </a:lnTo>
                  <a:lnTo>
                    <a:pt x="356488" y="371729"/>
                  </a:lnTo>
                  <a:lnTo>
                    <a:pt x="336550" y="379983"/>
                  </a:lnTo>
                  <a:lnTo>
                    <a:pt x="332993" y="380745"/>
                  </a:lnTo>
                  <a:lnTo>
                    <a:pt x="329438" y="381000"/>
                  </a:lnTo>
                  <a:lnTo>
                    <a:pt x="325754" y="381000"/>
                  </a:lnTo>
                  <a:lnTo>
                    <a:pt x="55245" y="381000"/>
                  </a:lnTo>
                  <a:lnTo>
                    <a:pt x="51688" y="381000"/>
                  </a:lnTo>
                  <a:lnTo>
                    <a:pt x="48133" y="380745"/>
                  </a:lnTo>
                  <a:lnTo>
                    <a:pt x="9398" y="356488"/>
                  </a:lnTo>
                  <a:lnTo>
                    <a:pt x="0" y="329438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C5BB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70779" y="4400550"/>
              <a:ext cx="207010" cy="283210"/>
            </a:xfrm>
            <a:custGeom>
              <a:avLst/>
              <a:gdLst/>
              <a:ahLst/>
              <a:cxnLst/>
              <a:rect l="l" t="t" r="r" b="b"/>
              <a:pathLst>
                <a:path w="207010" h="283210">
                  <a:moveTo>
                    <a:pt x="128650" y="0"/>
                  </a:moveTo>
                  <a:lnTo>
                    <a:pt x="35306" y="0"/>
                  </a:lnTo>
                  <a:lnTo>
                    <a:pt x="21590" y="2794"/>
                  </a:lnTo>
                  <a:lnTo>
                    <a:pt x="10414" y="10287"/>
                  </a:lnTo>
                  <a:lnTo>
                    <a:pt x="2794" y="21590"/>
                  </a:lnTo>
                  <a:lnTo>
                    <a:pt x="0" y="35306"/>
                  </a:lnTo>
                  <a:lnTo>
                    <a:pt x="0" y="247396"/>
                  </a:lnTo>
                  <a:lnTo>
                    <a:pt x="2794" y="261112"/>
                  </a:lnTo>
                  <a:lnTo>
                    <a:pt x="10414" y="272415"/>
                  </a:lnTo>
                  <a:lnTo>
                    <a:pt x="21590" y="279908"/>
                  </a:lnTo>
                  <a:lnTo>
                    <a:pt x="35306" y="282702"/>
                  </a:lnTo>
                  <a:lnTo>
                    <a:pt x="176784" y="282702"/>
                  </a:lnTo>
                  <a:lnTo>
                    <a:pt x="190500" y="279908"/>
                  </a:lnTo>
                  <a:lnTo>
                    <a:pt x="201675" y="272415"/>
                  </a:lnTo>
                  <a:lnTo>
                    <a:pt x="206629" y="265049"/>
                  </a:lnTo>
                  <a:lnTo>
                    <a:pt x="25527" y="265049"/>
                  </a:lnTo>
                  <a:lnTo>
                    <a:pt x="17653" y="257175"/>
                  </a:lnTo>
                  <a:lnTo>
                    <a:pt x="17653" y="25527"/>
                  </a:lnTo>
                  <a:lnTo>
                    <a:pt x="25527" y="17653"/>
                  </a:lnTo>
                  <a:lnTo>
                    <a:pt x="150241" y="17653"/>
                  </a:lnTo>
                  <a:lnTo>
                    <a:pt x="135382" y="2794"/>
                  </a:lnTo>
                  <a:lnTo>
                    <a:pt x="128650" y="0"/>
                  </a:lnTo>
                  <a:close/>
                </a:path>
              </a:pathLst>
            </a:custGeom>
            <a:solidFill>
              <a:srgbClr val="25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06085" y="4418203"/>
              <a:ext cx="176784" cy="2473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100"/>
              </a:spcBef>
            </a:pPr>
            <a:r>
              <a:rPr spc="-415" dirty="0"/>
              <a:t>Our</a:t>
            </a:r>
            <a:r>
              <a:rPr spc="-254" dirty="0"/>
              <a:t> </a:t>
            </a:r>
            <a:r>
              <a:rPr spc="-330" dirty="0"/>
              <a:t>Solution:</a:t>
            </a:r>
            <a:r>
              <a:rPr spc="-265" dirty="0"/>
              <a:t> </a:t>
            </a:r>
            <a:r>
              <a:rPr spc="-420" dirty="0"/>
              <a:t>NextWork </a:t>
            </a:r>
            <a:r>
              <a:rPr spc="-275" dirty="0"/>
              <a:t>Freelance</a:t>
            </a:r>
            <a:r>
              <a:rPr spc="-325" dirty="0"/>
              <a:t> </a:t>
            </a:r>
            <a:r>
              <a:rPr spc="-290" dirty="0"/>
              <a:t>Platform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02054" y="2264791"/>
            <a:ext cx="4822825" cy="951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195" dirty="0">
                <a:solidFill>
                  <a:srgbClr val="252323"/>
                </a:solidFill>
                <a:latin typeface="Georgia"/>
                <a:cs typeface="Georgia"/>
              </a:rPr>
              <a:t>AI</a:t>
            </a:r>
            <a:r>
              <a:rPr sz="1850" b="1" spc="-114" dirty="0">
                <a:solidFill>
                  <a:srgbClr val="252323"/>
                </a:solidFill>
                <a:latin typeface="Georgia"/>
                <a:cs typeface="Georgia"/>
              </a:rPr>
              <a:t> </a:t>
            </a:r>
            <a:r>
              <a:rPr sz="1850" b="1" spc="-10" dirty="0">
                <a:solidFill>
                  <a:srgbClr val="252323"/>
                </a:solidFill>
                <a:latin typeface="Georgia"/>
                <a:cs typeface="Georgia"/>
              </a:rPr>
              <a:t>Matching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34200"/>
              </a:lnSpc>
              <a:spcBef>
                <a:spcPts val="725"/>
              </a:spcBef>
            </a:pPr>
            <a:r>
              <a:rPr sz="1350" spc="-85" dirty="0">
                <a:solidFill>
                  <a:srgbClr val="252323"/>
                </a:solidFill>
                <a:latin typeface="Verdana"/>
                <a:cs typeface="Verdana"/>
              </a:rPr>
              <a:t>AI-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powered</a:t>
            </a:r>
            <a:r>
              <a:rPr sz="1350" spc="-13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matching</a:t>
            </a:r>
            <a:r>
              <a:rPr sz="1350" spc="-12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algorithm</a:t>
            </a:r>
            <a:r>
              <a:rPr sz="1350" spc="-13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connects</a:t>
            </a:r>
            <a:r>
              <a:rPr sz="1350" spc="-12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freelancers</a:t>
            </a:r>
            <a:r>
              <a:rPr sz="1350" spc="-13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with</a:t>
            </a:r>
            <a:r>
              <a:rPr sz="1350" spc="-12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52323"/>
                </a:solidFill>
                <a:latin typeface="Verdana"/>
                <a:cs typeface="Verdana"/>
              </a:rPr>
              <a:t>the </a:t>
            </a:r>
            <a:r>
              <a:rPr sz="1350" spc="-10" dirty="0">
                <a:solidFill>
                  <a:srgbClr val="252323"/>
                </a:solidFill>
                <a:latin typeface="Verdana"/>
                <a:cs typeface="Verdana"/>
              </a:rPr>
              <a:t>right</a:t>
            </a:r>
            <a:r>
              <a:rPr sz="1350" spc="-9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52323"/>
                </a:solidFill>
                <a:latin typeface="Verdana"/>
                <a:cs typeface="Verdana"/>
              </a:rPr>
              <a:t>jobs.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2054" y="3549777"/>
            <a:ext cx="4337685" cy="9537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175" dirty="0">
                <a:solidFill>
                  <a:srgbClr val="252323"/>
                </a:solidFill>
                <a:latin typeface="Georgia"/>
                <a:cs typeface="Georgia"/>
              </a:rPr>
              <a:t>Integrated</a:t>
            </a:r>
            <a:r>
              <a:rPr sz="1850" b="1" spc="-70" dirty="0">
                <a:solidFill>
                  <a:srgbClr val="252323"/>
                </a:solidFill>
                <a:latin typeface="Georgia"/>
                <a:cs typeface="Georgia"/>
              </a:rPr>
              <a:t> </a:t>
            </a:r>
            <a:r>
              <a:rPr sz="1850" b="1" spc="-10" dirty="0">
                <a:solidFill>
                  <a:srgbClr val="252323"/>
                </a:solidFill>
                <a:latin typeface="Georgia"/>
                <a:cs typeface="Georgia"/>
              </a:rPr>
              <a:t>Payments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35000"/>
              </a:lnSpc>
              <a:spcBef>
                <a:spcPts val="715"/>
              </a:spcBef>
            </a:pPr>
            <a:r>
              <a:rPr sz="1350" spc="-95" dirty="0">
                <a:solidFill>
                  <a:srgbClr val="252323"/>
                </a:solidFill>
                <a:latin typeface="Verdana"/>
                <a:cs typeface="Verdana"/>
              </a:rPr>
              <a:t>Easy</a:t>
            </a:r>
            <a:r>
              <a:rPr sz="1350" spc="-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252323"/>
                </a:solidFill>
                <a:latin typeface="Verdana"/>
                <a:cs typeface="Verdana"/>
              </a:rPr>
              <a:t>payment</a:t>
            </a:r>
            <a:r>
              <a:rPr sz="1350" spc="-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52323"/>
                </a:solidFill>
                <a:latin typeface="Verdana"/>
                <a:cs typeface="Verdana"/>
              </a:rPr>
              <a:t>and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52323"/>
                </a:solidFill>
                <a:latin typeface="Verdana"/>
                <a:cs typeface="Verdana"/>
              </a:rPr>
              <a:t>contract</a:t>
            </a: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252323"/>
                </a:solidFill>
                <a:latin typeface="Verdana"/>
                <a:cs typeface="Verdana"/>
              </a:rPr>
              <a:t>management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52323"/>
                </a:solidFill>
                <a:latin typeface="Verdana"/>
                <a:cs typeface="Verdana"/>
              </a:rPr>
              <a:t>streamline</a:t>
            </a:r>
            <a:r>
              <a:rPr sz="1350" spc="-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52323"/>
                </a:solidFill>
                <a:latin typeface="Verdana"/>
                <a:cs typeface="Verdana"/>
              </a:rPr>
              <a:t>the </a:t>
            </a:r>
            <a:r>
              <a:rPr sz="1350" spc="-10" dirty="0">
                <a:solidFill>
                  <a:srgbClr val="252323"/>
                </a:solidFill>
                <a:latin typeface="Verdana"/>
                <a:cs typeface="Verdana"/>
              </a:rPr>
              <a:t>process.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2054" y="4845558"/>
            <a:ext cx="4288155" cy="664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130" dirty="0">
                <a:solidFill>
                  <a:srgbClr val="252323"/>
                </a:solidFill>
                <a:latin typeface="Georgia"/>
                <a:cs typeface="Georgia"/>
              </a:rPr>
              <a:t>Skill</a:t>
            </a:r>
            <a:r>
              <a:rPr sz="1850" b="1" spc="-95" dirty="0">
                <a:solidFill>
                  <a:srgbClr val="252323"/>
                </a:solidFill>
                <a:latin typeface="Georgia"/>
                <a:cs typeface="Georgia"/>
              </a:rPr>
              <a:t> </a:t>
            </a:r>
            <a:r>
              <a:rPr sz="1850" b="1" spc="-10" dirty="0">
                <a:solidFill>
                  <a:srgbClr val="252323"/>
                </a:solidFill>
                <a:latin typeface="Georgia"/>
                <a:cs typeface="Georgia"/>
              </a:rPr>
              <a:t>Verification</a:t>
            </a:r>
            <a:endParaRPr sz="18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350" spc="-95" dirty="0">
                <a:solidFill>
                  <a:srgbClr val="252323"/>
                </a:solidFill>
                <a:latin typeface="Verdana"/>
                <a:cs typeface="Verdana"/>
              </a:rPr>
              <a:t>Showcase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 verified </a:t>
            </a:r>
            <a:r>
              <a:rPr sz="1350" spc="-70" dirty="0">
                <a:solidFill>
                  <a:srgbClr val="252323"/>
                </a:solidFill>
                <a:latin typeface="Verdana"/>
                <a:cs typeface="Verdana"/>
              </a:rPr>
              <a:t>skills</a:t>
            </a: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52323"/>
                </a:solidFill>
                <a:latin typeface="Verdana"/>
                <a:cs typeface="Verdana"/>
              </a:rPr>
              <a:t>and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52323"/>
                </a:solidFill>
                <a:latin typeface="Verdana"/>
                <a:cs typeface="Verdana"/>
              </a:rPr>
              <a:t>portfolios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52323"/>
                </a:solidFill>
                <a:latin typeface="Verdana"/>
                <a:cs typeface="Verdana"/>
              </a:rPr>
              <a:t>to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52323"/>
                </a:solidFill>
                <a:latin typeface="Verdana"/>
                <a:cs typeface="Verdana"/>
              </a:rPr>
              <a:t>attract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52323"/>
                </a:solidFill>
                <a:latin typeface="Verdana"/>
                <a:cs typeface="Verdana"/>
              </a:rPr>
              <a:t>clients.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7559" y="-1"/>
            <a:ext cx="4282440" cy="643826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94361" y="2125067"/>
            <a:ext cx="867410" cy="3620770"/>
            <a:chOff x="594361" y="2125067"/>
            <a:chExt cx="867410" cy="3620770"/>
          </a:xfrm>
        </p:grpSpPr>
        <p:sp>
          <p:nvSpPr>
            <p:cNvPr id="8" name="object 8"/>
            <p:cNvSpPr/>
            <p:nvPr/>
          </p:nvSpPr>
          <p:spPr>
            <a:xfrm>
              <a:off x="599719" y="2130425"/>
              <a:ext cx="856615" cy="1289050"/>
            </a:xfrm>
            <a:custGeom>
              <a:avLst/>
              <a:gdLst/>
              <a:ahLst/>
              <a:cxnLst/>
              <a:rect l="l" t="t" r="r" b="b"/>
              <a:pathLst>
                <a:path w="856615" h="1289050">
                  <a:moveTo>
                    <a:pt x="856589" y="0"/>
                  </a:moveTo>
                  <a:lnTo>
                    <a:pt x="428307" y="171450"/>
                  </a:lnTo>
                  <a:lnTo>
                    <a:pt x="0" y="0"/>
                  </a:lnTo>
                  <a:lnTo>
                    <a:pt x="0" y="1117600"/>
                  </a:lnTo>
                  <a:lnTo>
                    <a:pt x="428307" y="1289050"/>
                  </a:lnTo>
                  <a:lnTo>
                    <a:pt x="856589" y="1117600"/>
                  </a:lnTo>
                  <a:lnTo>
                    <a:pt x="856589" y="0"/>
                  </a:lnTo>
                  <a:close/>
                </a:path>
              </a:pathLst>
            </a:custGeom>
            <a:solidFill>
              <a:srgbClr val="DF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9719" y="2130425"/>
              <a:ext cx="856615" cy="1289050"/>
            </a:xfrm>
            <a:custGeom>
              <a:avLst/>
              <a:gdLst/>
              <a:ahLst/>
              <a:cxnLst/>
              <a:rect l="l" t="t" r="r" b="b"/>
              <a:pathLst>
                <a:path w="856615" h="1289050">
                  <a:moveTo>
                    <a:pt x="0" y="1117600"/>
                  </a:moveTo>
                  <a:lnTo>
                    <a:pt x="428307" y="1289050"/>
                  </a:lnTo>
                  <a:lnTo>
                    <a:pt x="856589" y="1117600"/>
                  </a:lnTo>
                  <a:lnTo>
                    <a:pt x="856589" y="0"/>
                  </a:lnTo>
                  <a:lnTo>
                    <a:pt x="428307" y="171450"/>
                  </a:lnTo>
                  <a:lnTo>
                    <a:pt x="0" y="0"/>
                  </a:lnTo>
                  <a:lnTo>
                    <a:pt x="0" y="1117600"/>
                  </a:lnTo>
                  <a:close/>
                </a:path>
              </a:pathLst>
            </a:custGeom>
            <a:ln w="10714">
              <a:solidFill>
                <a:srgbClr val="C5BB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9719" y="3416300"/>
              <a:ext cx="856615" cy="1289050"/>
            </a:xfrm>
            <a:custGeom>
              <a:avLst/>
              <a:gdLst/>
              <a:ahLst/>
              <a:cxnLst/>
              <a:rect l="l" t="t" r="r" b="b"/>
              <a:pathLst>
                <a:path w="856615" h="1289050">
                  <a:moveTo>
                    <a:pt x="856589" y="0"/>
                  </a:moveTo>
                  <a:lnTo>
                    <a:pt x="428307" y="171450"/>
                  </a:lnTo>
                  <a:lnTo>
                    <a:pt x="0" y="0"/>
                  </a:lnTo>
                  <a:lnTo>
                    <a:pt x="0" y="1117600"/>
                  </a:lnTo>
                  <a:lnTo>
                    <a:pt x="428307" y="1289050"/>
                  </a:lnTo>
                  <a:lnTo>
                    <a:pt x="856589" y="1117600"/>
                  </a:lnTo>
                  <a:lnTo>
                    <a:pt x="856589" y="0"/>
                  </a:lnTo>
                  <a:close/>
                </a:path>
              </a:pathLst>
            </a:custGeom>
            <a:solidFill>
              <a:srgbClr val="DF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9719" y="3416300"/>
              <a:ext cx="856615" cy="1289050"/>
            </a:xfrm>
            <a:custGeom>
              <a:avLst/>
              <a:gdLst/>
              <a:ahLst/>
              <a:cxnLst/>
              <a:rect l="l" t="t" r="r" b="b"/>
              <a:pathLst>
                <a:path w="856615" h="1289050">
                  <a:moveTo>
                    <a:pt x="0" y="1117600"/>
                  </a:moveTo>
                  <a:lnTo>
                    <a:pt x="428307" y="1289050"/>
                  </a:lnTo>
                  <a:lnTo>
                    <a:pt x="856589" y="1117600"/>
                  </a:lnTo>
                  <a:lnTo>
                    <a:pt x="856589" y="0"/>
                  </a:lnTo>
                  <a:lnTo>
                    <a:pt x="428307" y="171450"/>
                  </a:lnTo>
                  <a:lnTo>
                    <a:pt x="0" y="0"/>
                  </a:lnTo>
                  <a:lnTo>
                    <a:pt x="0" y="1117600"/>
                  </a:lnTo>
                  <a:close/>
                </a:path>
              </a:pathLst>
            </a:custGeom>
            <a:ln w="10714">
              <a:solidFill>
                <a:srgbClr val="C5BB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9719" y="4711700"/>
              <a:ext cx="856615" cy="1028700"/>
            </a:xfrm>
            <a:custGeom>
              <a:avLst/>
              <a:gdLst/>
              <a:ahLst/>
              <a:cxnLst/>
              <a:rect l="l" t="t" r="r" b="b"/>
              <a:pathLst>
                <a:path w="856615" h="1028700">
                  <a:moveTo>
                    <a:pt x="856589" y="0"/>
                  </a:moveTo>
                  <a:lnTo>
                    <a:pt x="428307" y="171450"/>
                  </a:lnTo>
                  <a:lnTo>
                    <a:pt x="0" y="0"/>
                  </a:lnTo>
                  <a:lnTo>
                    <a:pt x="0" y="857237"/>
                  </a:lnTo>
                  <a:lnTo>
                    <a:pt x="428307" y="1028687"/>
                  </a:lnTo>
                  <a:lnTo>
                    <a:pt x="856589" y="857237"/>
                  </a:lnTo>
                  <a:lnTo>
                    <a:pt x="856589" y="0"/>
                  </a:lnTo>
                  <a:close/>
                </a:path>
              </a:pathLst>
            </a:custGeom>
            <a:solidFill>
              <a:srgbClr val="DF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9719" y="4711700"/>
              <a:ext cx="856615" cy="1028700"/>
            </a:xfrm>
            <a:custGeom>
              <a:avLst/>
              <a:gdLst/>
              <a:ahLst/>
              <a:cxnLst/>
              <a:rect l="l" t="t" r="r" b="b"/>
              <a:pathLst>
                <a:path w="856615" h="1028700">
                  <a:moveTo>
                    <a:pt x="0" y="857237"/>
                  </a:moveTo>
                  <a:lnTo>
                    <a:pt x="428307" y="1028687"/>
                  </a:lnTo>
                  <a:lnTo>
                    <a:pt x="856589" y="857237"/>
                  </a:lnTo>
                  <a:lnTo>
                    <a:pt x="856589" y="0"/>
                  </a:lnTo>
                  <a:lnTo>
                    <a:pt x="428307" y="171450"/>
                  </a:lnTo>
                  <a:lnTo>
                    <a:pt x="0" y="0"/>
                  </a:lnTo>
                  <a:lnTo>
                    <a:pt x="0" y="857237"/>
                  </a:lnTo>
                  <a:close/>
                </a:path>
              </a:pathLst>
            </a:custGeom>
            <a:ln w="10714">
              <a:solidFill>
                <a:srgbClr val="C5BB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62660" y="2578735"/>
            <a:ext cx="1504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solidFill>
                  <a:srgbClr val="252323"/>
                </a:solidFill>
                <a:latin typeface="Georgia"/>
                <a:cs typeface="Georgia"/>
              </a:rPr>
              <a:t>1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4372" y="3874389"/>
            <a:ext cx="1854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252323"/>
                </a:solidFill>
                <a:latin typeface="Georgia"/>
                <a:cs typeface="Georgia"/>
              </a:rPr>
              <a:t>2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4372" y="5026863"/>
            <a:ext cx="1847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252323"/>
                </a:solidFill>
                <a:latin typeface="Georgia"/>
                <a:cs typeface="Georgia"/>
              </a:rPr>
              <a:t>3</a:t>
            </a:r>
            <a:endParaRPr sz="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7755" y="3004185"/>
            <a:ext cx="275717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b="1" spc="-445" dirty="0">
                <a:solidFill>
                  <a:srgbClr val="F85F86"/>
                </a:solidFill>
                <a:latin typeface="Georgia"/>
                <a:cs typeface="Georgia"/>
              </a:rPr>
              <a:t>Key</a:t>
            </a:r>
            <a:r>
              <a:rPr sz="3700" b="1" spc="-325" dirty="0">
                <a:solidFill>
                  <a:srgbClr val="F85F86"/>
                </a:solidFill>
                <a:latin typeface="Georgia"/>
                <a:cs typeface="Georgia"/>
              </a:rPr>
              <a:t> </a:t>
            </a:r>
            <a:r>
              <a:rPr sz="3700" b="1" spc="-215" dirty="0">
                <a:solidFill>
                  <a:srgbClr val="F85F86"/>
                </a:solidFill>
                <a:latin typeface="Georgia"/>
                <a:cs typeface="Georgia"/>
              </a:rPr>
              <a:t>Features</a:t>
            </a:r>
            <a:endParaRPr sz="37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8516" y="3849700"/>
            <a:ext cx="134175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100"/>
              </a:spcBef>
            </a:pPr>
            <a:r>
              <a:rPr sz="1850" b="1" spc="-20" dirty="0">
                <a:solidFill>
                  <a:srgbClr val="252323"/>
                </a:solidFill>
                <a:latin typeface="Georgia"/>
                <a:cs typeface="Georgia"/>
              </a:rPr>
              <a:t>Zero </a:t>
            </a:r>
            <a:r>
              <a:rPr sz="1850" b="1" spc="-165" dirty="0">
                <a:solidFill>
                  <a:srgbClr val="252323"/>
                </a:solidFill>
                <a:latin typeface="Georgia"/>
                <a:cs typeface="Georgia"/>
              </a:rPr>
              <a:t>Commission</a:t>
            </a:r>
            <a:endParaRPr sz="185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0127" y="3849700"/>
            <a:ext cx="119697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100"/>
              </a:spcBef>
            </a:pPr>
            <a:r>
              <a:rPr sz="1850" b="1" spc="-155" dirty="0">
                <a:solidFill>
                  <a:srgbClr val="252323"/>
                </a:solidFill>
                <a:latin typeface="Georgia"/>
                <a:cs typeface="Georgia"/>
              </a:rPr>
              <a:t>Blockchain </a:t>
            </a:r>
            <a:r>
              <a:rPr sz="1850" b="1" spc="-10" dirty="0">
                <a:solidFill>
                  <a:srgbClr val="252323"/>
                </a:solidFill>
                <a:latin typeface="Georgia"/>
                <a:cs typeface="Georgia"/>
              </a:rPr>
              <a:t>Verified</a:t>
            </a:r>
            <a:endParaRPr sz="185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33184" y="3849700"/>
            <a:ext cx="1703070" cy="90360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850" b="1" spc="-25" dirty="0">
                <a:solidFill>
                  <a:srgbClr val="252323"/>
                </a:solidFill>
                <a:latin typeface="Georgia"/>
                <a:cs typeface="Georgia"/>
              </a:rPr>
              <a:t>ML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00699"/>
              </a:lnSpc>
              <a:spcBef>
                <a:spcPts val="105"/>
              </a:spcBef>
            </a:pPr>
            <a:r>
              <a:rPr sz="1850" b="1" spc="-200" dirty="0">
                <a:solidFill>
                  <a:srgbClr val="252323"/>
                </a:solidFill>
                <a:latin typeface="Georgia"/>
                <a:cs typeface="Georgia"/>
              </a:rPr>
              <a:t>Recommendatio </a:t>
            </a:r>
            <a:r>
              <a:rPr sz="1850" b="1" spc="-25" dirty="0">
                <a:solidFill>
                  <a:srgbClr val="252323"/>
                </a:solidFill>
                <a:latin typeface="Georgia"/>
                <a:cs typeface="Georgia"/>
              </a:rPr>
              <a:t>ns</a:t>
            </a:r>
            <a:endParaRPr sz="185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54845" y="3865245"/>
            <a:ext cx="163195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190" dirty="0">
                <a:solidFill>
                  <a:srgbClr val="252323"/>
                </a:solidFill>
                <a:latin typeface="Georgia"/>
                <a:cs typeface="Georgia"/>
              </a:rPr>
              <a:t>Secure</a:t>
            </a:r>
            <a:r>
              <a:rPr sz="1850" b="1" spc="-85" dirty="0">
                <a:solidFill>
                  <a:srgbClr val="252323"/>
                </a:solidFill>
                <a:latin typeface="Georgia"/>
                <a:cs typeface="Georgia"/>
              </a:rPr>
              <a:t> </a:t>
            </a:r>
            <a:r>
              <a:rPr sz="1850" b="1" spc="-20" dirty="0">
                <a:solidFill>
                  <a:srgbClr val="252323"/>
                </a:solidFill>
                <a:latin typeface="Georgia"/>
                <a:cs typeface="Georgia"/>
              </a:rPr>
              <a:t>Escrow</a:t>
            </a:r>
            <a:endParaRPr sz="185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7755" y="4924247"/>
            <a:ext cx="10048875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95"/>
              </a:spcBef>
            </a:pP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NextWork</a:t>
            </a:r>
            <a:r>
              <a:rPr sz="1350" spc="-17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offers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freelancers</a:t>
            </a:r>
            <a:r>
              <a:rPr sz="1350" spc="-17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unique</a:t>
            </a:r>
            <a:r>
              <a:rPr sz="1350" spc="-19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features.</a:t>
            </a:r>
            <a:r>
              <a:rPr sz="1350" spc="-16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Enjoy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zero</a:t>
            </a:r>
            <a:r>
              <a:rPr sz="1350" spc="-17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52323"/>
                </a:solidFill>
                <a:latin typeface="Verdana"/>
                <a:cs typeface="Verdana"/>
              </a:rPr>
              <a:t>commission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for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52323"/>
                </a:solidFill>
                <a:latin typeface="Verdana"/>
                <a:cs typeface="Verdana"/>
              </a:rPr>
              <a:t>the</a:t>
            </a:r>
            <a:r>
              <a:rPr sz="1350" spc="-18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first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52323"/>
                </a:solidFill>
                <a:latin typeface="Verdana"/>
                <a:cs typeface="Verdana"/>
              </a:rPr>
              <a:t>3</a:t>
            </a:r>
            <a:r>
              <a:rPr sz="1350" spc="-18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months.</a:t>
            </a:r>
            <a:r>
              <a:rPr sz="1350" spc="-18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Benefit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from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blockchain-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verified</a:t>
            </a:r>
            <a:r>
              <a:rPr sz="1350" spc="-17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52323"/>
                </a:solidFill>
                <a:latin typeface="Verdana"/>
                <a:cs typeface="Verdana"/>
              </a:rPr>
              <a:t>skills </a:t>
            </a:r>
            <a:r>
              <a:rPr sz="1350" spc="-35" dirty="0">
                <a:solidFill>
                  <a:srgbClr val="252323"/>
                </a:solidFill>
                <a:latin typeface="Verdana"/>
                <a:cs typeface="Verdana"/>
              </a:rPr>
              <a:t>and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machine</a:t>
            </a:r>
            <a:r>
              <a:rPr sz="1350" spc="-15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learning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52323"/>
                </a:solidFill>
                <a:latin typeface="Verdana"/>
                <a:cs typeface="Verdana"/>
              </a:rPr>
              <a:t>job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52323"/>
                </a:solidFill>
                <a:latin typeface="Verdana"/>
                <a:cs typeface="Verdana"/>
              </a:rPr>
              <a:t>recommendations.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27967" cy="214249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652144" y="3984498"/>
            <a:ext cx="324485" cy="324485"/>
            <a:chOff x="652144" y="3984498"/>
            <a:chExt cx="324485" cy="324485"/>
          </a:xfrm>
        </p:grpSpPr>
        <p:sp>
          <p:nvSpPr>
            <p:cNvPr id="10" name="object 10"/>
            <p:cNvSpPr/>
            <p:nvPr/>
          </p:nvSpPr>
          <p:spPr>
            <a:xfrm>
              <a:off x="652144" y="3984498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4" h="324485">
                  <a:moveTo>
                    <a:pt x="313601" y="0"/>
                  </a:moveTo>
                  <a:lnTo>
                    <a:pt x="305054" y="0"/>
                  </a:lnTo>
                  <a:lnTo>
                    <a:pt x="0" y="305054"/>
                  </a:lnTo>
                  <a:lnTo>
                    <a:pt x="0" y="313563"/>
                  </a:lnTo>
                  <a:lnTo>
                    <a:pt x="10375" y="323977"/>
                  </a:lnTo>
                  <a:lnTo>
                    <a:pt x="18923" y="323977"/>
                  </a:lnTo>
                  <a:lnTo>
                    <a:pt x="323977" y="18923"/>
                  </a:lnTo>
                  <a:lnTo>
                    <a:pt x="323977" y="10414"/>
                  </a:lnTo>
                  <a:lnTo>
                    <a:pt x="313601" y="0"/>
                  </a:lnTo>
                  <a:close/>
                </a:path>
              </a:pathLst>
            </a:custGeom>
            <a:solidFill>
              <a:srgbClr val="603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714" y="4200017"/>
              <a:ext cx="107149" cy="10718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3402" y="3985768"/>
              <a:ext cx="107149" cy="107187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3246120" y="3938778"/>
            <a:ext cx="375285" cy="415925"/>
          </a:xfrm>
          <a:custGeom>
            <a:avLst/>
            <a:gdLst/>
            <a:ahLst/>
            <a:cxnLst/>
            <a:rect l="l" t="t" r="r" b="b"/>
            <a:pathLst>
              <a:path w="375285" h="415925">
                <a:moveTo>
                  <a:pt x="133731" y="106680"/>
                </a:moveTo>
                <a:lnTo>
                  <a:pt x="127762" y="100711"/>
                </a:lnTo>
                <a:lnTo>
                  <a:pt x="113030" y="100711"/>
                </a:lnTo>
                <a:lnTo>
                  <a:pt x="107061" y="106680"/>
                </a:lnTo>
                <a:lnTo>
                  <a:pt x="107061" y="218948"/>
                </a:lnTo>
                <a:lnTo>
                  <a:pt x="77470" y="130429"/>
                </a:lnTo>
                <a:lnTo>
                  <a:pt x="71120" y="126492"/>
                </a:lnTo>
                <a:lnTo>
                  <a:pt x="58166" y="128778"/>
                </a:lnTo>
                <a:lnTo>
                  <a:pt x="53467" y="134366"/>
                </a:lnTo>
                <a:lnTo>
                  <a:pt x="53467" y="281940"/>
                </a:lnTo>
                <a:lnTo>
                  <a:pt x="59423" y="287909"/>
                </a:lnTo>
                <a:lnTo>
                  <a:pt x="74168" y="287909"/>
                </a:lnTo>
                <a:lnTo>
                  <a:pt x="80264" y="281940"/>
                </a:lnTo>
                <a:lnTo>
                  <a:pt x="80264" y="223266"/>
                </a:lnTo>
                <a:lnTo>
                  <a:pt x="109728" y="311785"/>
                </a:lnTo>
                <a:lnTo>
                  <a:pt x="116078" y="315595"/>
                </a:lnTo>
                <a:lnTo>
                  <a:pt x="129032" y="313436"/>
                </a:lnTo>
                <a:lnTo>
                  <a:pt x="133731" y="307848"/>
                </a:lnTo>
                <a:lnTo>
                  <a:pt x="133731" y="223266"/>
                </a:lnTo>
                <a:lnTo>
                  <a:pt x="133731" y="218948"/>
                </a:lnTo>
                <a:lnTo>
                  <a:pt x="133731" y="106680"/>
                </a:lnTo>
                <a:close/>
              </a:path>
              <a:path w="375285" h="415925">
                <a:moveTo>
                  <a:pt x="227838" y="91821"/>
                </a:moveTo>
                <a:lnTo>
                  <a:pt x="225171" y="87249"/>
                </a:lnTo>
                <a:lnTo>
                  <a:pt x="179324" y="61087"/>
                </a:lnTo>
                <a:lnTo>
                  <a:pt x="177419" y="60452"/>
                </a:lnTo>
                <a:lnTo>
                  <a:pt x="175260" y="60198"/>
                </a:lnTo>
                <a:lnTo>
                  <a:pt x="171069" y="60198"/>
                </a:lnTo>
                <a:lnTo>
                  <a:pt x="160655" y="335407"/>
                </a:lnTo>
                <a:lnTo>
                  <a:pt x="166751" y="341503"/>
                </a:lnTo>
                <a:lnTo>
                  <a:pt x="181483" y="341503"/>
                </a:lnTo>
                <a:lnTo>
                  <a:pt x="187452" y="335407"/>
                </a:lnTo>
                <a:lnTo>
                  <a:pt x="187452" y="221107"/>
                </a:lnTo>
                <a:lnTo>
                  <a:pt x="221615" y="221107"/>
                </a:lnTo>
                <a:lnTo>
                  <a:pt x="227584" y="215011"/>
                </a:lnTo>
                <a:lnTo>
                  <a:pt x="227584" y="200406"/>
                </a:lnTo>
                <a:lnTo>
                  <a:pt x="221615" y="194310"/>
                </a:lnTo>
                <a:lnTo>
                  <a:pt x="187452" y="194310"/>
                </a:lnTo>
                <a:lnTo>
                  <a:pt x="187452" y="96520"/>
                </a:lnTo>
                <a:lnTo>
                  <a:pt x="207772" y="108077"/>
                </a:lnTo>
                <a:lnTo>
                  <a:pt x="214630" y="109855"/>
                </a:lnTo>
                <a:lnTo>
                  <a:pt x="220853" y="108077"/>
                </a:lnTo>
                <a:lnTo>
                  <a:pt x="221234" y="107823"/>
                </a:lnTo>
                <a:lnTo>
                  <a:pt x="225806" y="103378"/>
                </a:lnTo>
                <a:lnTo>
                  <a:pt x="227711" y="96520"/>
                </a:lnTo>
                <a:lnTo>
                  <a:pt x="227838" y="91821"/>
                </a:lnTo>
                <a:close/>
              </a:path>
              <a:path w="375285" h="415925">
                <a:moveTo>
                  <a:pt x="330073" y="153924"/>
                </a:moveTo>
                <a:lnTo>
                  <a:pt x="327787" y="145796"/>
                </a:lnTo>
                <a:lnTo>
                  <a:pt x="261239" y="107823"/>
                </a:lnTo>
                <a:lnTo>
                  <a:pt x="254254" y="105918"/>
                </a:lnTo>
                <a:lnTo>
                  <a:pt x="247777" y="107823"/>
                </a:lnTo>
                <a:lnTo>
                  <a:pt x="242951" y="112522"/>
                </a:lnTo>
                <a:lnTo>
                  <a:pt x="241173" y="119380"/>
                </a:lnTo>
                <a:lnTo>
                  <a:pt x="241173" y="124079"/>
                </a:lnTo>
                <a:lnTo>
                  <a:pt x="243840" y="128778"/>
                </a:lnTo>
                <a:lnTo>
                  <a:pt x="267843" y="142367"/>
                </a:lnTo>
                <a:lnTo>
                  <a:pt x="267843" y="295275"/>
                </a:lnTo>
                <a:lnTo>
                  <a:pt x="273812" y="301371"/>
                </a:lnTo>
                <a:lnTo>
                  <a:pt x="288544" y="301371"/>
                </a:lnTo>
                <a:lnTo>
                  <a:pt x="294640" y="295275"/>
                </a:lnTo>
                <a:lnTo>
                  <a:pt x="294640" y="157607"/>
                </a:lnTo>
                <a:lnTo>
                  <a:pt x="314579" y="168910"/>
                </a:lnTo>
                <a:lnTo>
                  <a:pt x="322834" y="166624"/>
                </a:lnTo>
                <a:lnTo>
                  <a:pt x="327914" y="157607"/>
                </a:lnTo>
                <a:lnTo>
                  <a:pt x="330073" y="153924"/>
                </a:lnTo>
                <a:close/>
              </a:path>
              <a:path w="375285" h="415925">
                <a:moveTo>
                  <a:pt x="374777" y="284861"/>
                </a:moveTo>
                <a:lnTo>
                  <a:pt x="374650" y="130429"/>
                </a:lnTo>
                <a:lnTo>
                  <a:pt x="359156" y="92837"/>
                </a:lnTo>
                <a:lnTo>
                  <a:pt x="347980" y="84201"/>
                </a:lnTo>
                <a:lnTo>
                  <a:pt x="347980" y="284861"/>
                </a:lnTo>
                <a:lnTo>
                  <a:pt x="346964" y="291846"/>
                </a:lnTo>
                <a:lnTo>
                  <a:pt x="200787" y="385191"/>
                </a:lnTo>
                <a:lnTo>
                  <a:pt x="187325" y="388747"/>
                </a:lnTo>
                <a:lnTo>
                  <a:pt x="180467" y="387858"/>
                </a:lnTo>
                <a:lnTo>
                  <a:pt x="40132" y="307975"/>
                </a:lnTo>
                <a:lnTo>
                  <a:pt x="26784" y="284861"/>
                </a:lnTo>
                <a:lnTo>
                  <a:pt x="26784" y="130429"/>
                </a:lnTo>
                <a:lnTo>
                  <a:pt x="173990" y="30226"/>
                </a:lnTo>
                <a:lnTo>
                  <a:pt x="187325" y="26670"/>
                </a:lnTo>
                <a:lnTo>
                  <a:pt x="194183" y="27559"/>
                </a:lnTo>
                <a:lnTo>
                  <a:pt x="200787" y="30226"/>
                </a:lnTo>
                <a:lnTo>
                  <a:pt x="334518" y="107442"/>
                </a:lnTo>
                <a:lnTo>
                  <a:pt x="347980" y="284861"/>
                </a:lnTo>
                <a:lnTo>
                  <a:pt x="347980" y="84201"/>
                </a:lnTo>
                <a:lnTo>
                  <a:pt x="248031" y="26670"/>
                </a:lnTo>
                <a:lnTo>
                  <a:pt x="214122" y="7112"/>
                </a:lnTo>
                <a:lnTo>
                  <a:pt x="201168" y="1778"/>
                </a:lnTo>
                <a:lnTo>
                  <a:pt x="187325" y="0"/>
                </a:lnTo>
                <a:lnTo>
                  <a:pt x="26784" y="84201"/>
                </a:lnTo>
                <a:lnTo>
                  <a:pt x="1905" y="116586"/>
                </a:lnTo>
                <a:lnTo>
                  <a:pt x="0" y="284861"/>
                </a:lnTo>
                <a:lnTo>
                  <a:pt x="1778" y="298196"/>
                </a:lnTo>
                <a:lnTo>
                  <a:pt x="26784" y="331216"/>
                </a:lnTo>
                <a:lnTo>
                  <a:pt x="160528" y="408305"/>
                </a:lnTo>
                <a:lnTo>
                  <a:pt x="187325" y="415417"/>
                </a:lnTo>
                <a:lnTo>
                  <a:pt x="201168" y="413639"/>
                </a:lnTo>
                <a:lnTo>
                  <a:pt x="214122" y="408305"/>
                </a:lnTo>
                <a:lnTo>
                  <a:pt x="248158" y="388747"/>
                </a:lnTo>
                <a:lnTo>
                  <a:pt x="347980" y="331216"/>
                </a:lnTo>
                <a:lnTo>
                  <a:pt x="372872" y="298831"/>
                </a:lnTo>
                <a:lnTo>
                  <a:pt x="374777" y="284861"/>
                </a:lnTo>
                <a:close/>
              </a:path>
            </a:pathLst>
          </a:custGeom>
          <a:solidFill>
            <a:srgbClr val="6037C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5864859" y="3956177"/>
            <a:ext cx="395605" cy="382270"/>
            <a:chOff x="5864859" y="3956177"/>
            <a:chExt cx="395605" cy="382270"/>
          </a:xfrm>
        </p:grpSpPr>
        <p:sp>
          <p:nvSpPr>
            <p:cNvPr id="15" name="object 15"/>
            <p:cNvSpPr/>
            <p:nvPr/>
          </p:nvSpPr>
          <p:spPr>
            <a:xfrm>
              <a:off x="5864859" y="3956177"/>
              <a:ext cx="224154" cy="382270"/>
            </a:xfrm>
            <a:custGeom>
              <a:avLst/>
              <a:gdLst/>
              <a:ahLst/>
              <a:cxnLst/>
              <a:rect l="l" t="t" r="r" b="b"/>
              <a:pathLst>
                <a:path w="224154" h="382270">
                  <a:moveTo>
                    <a:pt x="204469" y="0"/>
                  </a:moveTo>
                  <a:lnTo>
                    <a:pt x="190753" y="0"/>
                  </a:lnTo>
                  <a:lnTo>
                    <a:pt x="184530" y="3810"/>
                  </a:lnTo>
                  <a:lnTo>
                    <a:pt x="130428" y="115189"/>
                  </a:lnTo>
                  <a:lnTo>
                    <a:pt x="9778" y="133096"/>
                  </a:lnTo>
                  <a:lnTo>
                    <a:pt x="4190" y="137795"/>
                  </a:lnTo>
                  <a:lnTo>
                    <a:pt x="0" y="150622"/>
                  </a:lnTo>
                  <a:lnTo>
                    <a:pt x="1650" y="157734"/>
                  </a:lnTo>
                  <a:lnTo>
                    <a:pt x="89153" y="244348"/>
                  </a:lnTo>
                  <a:lnTo>
                    <a:pt x="68579" y="366776"/>
                  </a:lnTo>
                  <a:lnTo>
                    <a:pt x="71247" y="373507"/>
                  </a:lnTo>
                  <a:lnTo>
                    <a:pt x="82423" y="381635"/>
                  </a:lnTo>
                  <a:lnTo>
                    <a:pt x="89788" y="382016"/>
                  </a:lnTo>
                  <a:lnTo>
                    <a:pt x="145668" y="352171"/>
                  </a:lnTo>
                  <a:lnTo>
                    <a:pt x="95123" y="352171"/>
                  </a:lnTo>
                  <a:lnTo>
                    <a:pt x="112649" y="248285"/>
                  </a:lnTo>
                  <a:lnTo>
                    <a:pt x="113791" y="240665"/>
                  </a:lnTo>
                  <a:lnTo>
                    <a:pt x="111378" y="232918"/>
                  </a:lnTo>
                  <a:lnTo>
                    <a:pt x="31750" y="153924"/>
                  </a:lnTo>
                  <a:lnTo>
                    <a:pt x="141604" y="137795"/>
                  </a:lnTo>
                  <a:lnTo>
                    <a:pt x="148462" y="132715"/>
                  </a:lnTo>
                  <a:lnTo>
                    <a:pt x="197612" y="31496"/>
                  </a:lnTo>
                  <a:lnTo>
                    <a:pt x="224027" y="31496"/>
                  </a:lnTo>
                  <a:lnTo>
                    <a:pt x="210692" y="3810"/>
                  </a:lnTo>
                  <a:lnTo>
                    <a:pt x="204469" y="0"/>
                  </a:lnTo>
                  <a:close/>
                </a:path>
              </a:pathLst>
            </a:custGeom>
            <a:solidFill>
              <a:srgbClr val="603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9982" y="4255897"/>
              <a:ext cx="231520" cy="8229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062471" y="3987673"/>
              <a:ext cx="198120" cy="320675"/>
            </a:xfrm>
            <a:custGeom>
              <a:avLst/>
              <a:gdLst/>
              <a:ahLst/>
              <a:cxnLst/>
              <a:rect l="l" t="t" r="r" b="b"/>
              <a:pathLst>
                <a:path w="198120" h="320675">
                  <a:moveTo>
                    <a:pt x="26415" y="0"/>
                  </a:moveTo>
                  <a:lnTo>
                    <a:pt x="0" y="0"/>
                  </a:lnTo>
                  <a:lnTo>
                    <a:pt x="49022" y="101218"/>
                  </a:lnTo>
                  <a:lnTo>
                    <a:pt x="56006" y="106299"/>
                  </a:lnTo>
                  <a:lnTo>
                    <a:pt x="165862" y="122428"/>
                  </a:lnTo>
                  <a:lnTo>
                    <a:pt x="85978" y="201422"/>
                  </a:lnTo>
                  <a:lnTo>
                    <a:pt x="83565" y="209169"/>
                  </a:lnTo>
                  <a:lnTo>
                    <a:pt x="102362" y="320675"/>
                  </a:lnTo>
                  <a:lnTo>
                    <a:pt x="126618" y="320675"/>
                  </a:lnTo>
                  <a:lnTo>
                    <a:pt x="108330" y="212852"/>
                  </a:lnTo>
                  <a:lnTo>
                    <a:pt x="195833" y="126237"/>
                  </a:lnTo>
                  <a:lnTo>
                    <a:pt x="197612" y="118999"/>
                  </a:lnTo>
                  <a:lnTo>
                    <a:pt x="193420" y="106299"/>
                  </a:lnTo>
                  <a:lnTo>
                    <a:pt x="187832" y="101600"/>
                  </a:lnTo>
                  <a:lnTo>
                    <a:pt x="67055" y="83693"/>
                  </a:lnTo>
                  <a:lnTo>
                    <a:pt x="26415" y="0"/>
                  </a:lnTo>
                  <a:close/>
                </a:path>
              </a:pathLst>
            </a:custGeom>
            <a:solidFill>
              <a:srgbClr val="603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8494394" y="3931792"/>
            <a:ext cx="375285" cy="428625"/>
            <a:chOff x="8494394" y="3931792"/>
            <a:chExt cx="375285" cy="428625"/>
          </a:xfrm>
        </p:grpSpPr>
        <p:sp>
          <p:nvSpPr>
            <p:cNvPr id="19" name="object 19"/>
            <p:cNvSpPr/>
            <p:nvPr/>
          </p:nvSpPr>
          <p:spPr>
            <a:xfrm>
              <a:off x="8494394" y="3931792"/>
              <a:ext cx="292735" cy="349250"/>
            </a:xfrm>
            <a:custGeom>
              <a:avLst/>
              <a:gdLst/>
              <a:ahLst/>
              <a:cxnLst/>
              <a:rect l="l" t="t" r="r" b="b"/>
              <a:pathLst>
                <a:path w="292734" h="349250">
                  <a:moveTo>
                    <a:pt x="187578" y="0"/>
                  </a:moveTo>
                  <a:lnTo>
                    <a:pt x="153670" y="6857"/>
                  </a:lnTo>
                  <a:lnTo>
                    <a:pt x="125983" y="25526"/>
                  </a:lnTo>
                  <a:lnTo>
                    <a:pt x="107314" y="53085"/>
                  </a:lnTo>
                  <a:lnTo>
                    <a:pt x="100583" y="86740"/>
                  </a:lnTo>
                  <a:lnTo>
                    <a:pt x="100583" y="95250"/>
                  </a:lnTo>
                  <a:lnTo>
                    <a:pt x="101346" y="100710"/>
                  </a:lnTo>
                  <a:lnTo>
                    <a:pt x="102870" y="107060"/>
                  </a:lnTo>
                  <a:lnTo>
                    <a:pt x="21844" y="107060"/>
                  </a:lnTo>
                  <a:lnTo>
                    <a:pt x="17399" y="109854"/>
                  </a:lnTo>
                  <a:lnTo>
                    <a:pt x="12700" y="118617"/>
                  </a:lnTo>
                  <a:lnTo>
                    <a:pt x="12953" y="123825"/>
                  </a:lnTo>
                  <a:lnTo>
                    <a:pt x="21971" y="137540"/>
                  </a:lnTo>
                  <a:lnTo>
                    <a:pt x="2031" y="152526"/>
                  </a:lnTo>
                  <a:lnTo>
                    <a:pt x="0" y="156463"/>
                  </a:lnTo>
                  <a:lnTo>
                    <a:pt x="0" y="164845"/>
                  </a:lnTo>
                  <a:lnTo>
                    <a:pt x="2031" y="168909"/>
                  </a:lnTo>
                  <a:lnTo>
                    <a:pt x="21971" y="183895"/>
                  </a:lnTo>
                  <a:lnTo>
                    <a:pt x="12953" y="197484"/>
                  </a:lnTo>
                  <a:lnTo>
                    <a:pt x="12700" y="202819"/>
                  </a:lnTo>
                  <a:lnTo>
                    <a:pt x="17399" y="211581"/>
                  </a:lnTo>
                  <a:lnTo>
                    <a:pt x="21844" y="214248"/>
                  </a:lnTo>
                  <a:lnTo>
                    <a:pt x="104266" y="214248"/>
                  </a:lnTo>
                  <a:lnTo>
                    <a:pt x="79501" y="337438"/>
                  </a:lnTo>
                  <a:lnTo>
                    <a:pt x="81787" y="342645"/>
                  </a:lnTo>
                  <a:lnTo>
                    <a:pt x="90170" y="348741"/>
                  </a:lnTo>
                  <a:lnTo>
                    <a:pt x="95884" y="348995"/>
                  </a:lnTo>
                  <a:lnTo>
                    <a:pt x="140588" y="323469"/>
                  </a:lnTo>
                  <a:lnTo>
                    <a:pt x="292734" y="323469"/>
                  </a:lnTo>
                  <a:lnTo>
                    <a:pt x="291846" y="319404"/>
                  </a:lnTo>
                  <a:lnTo>
                    <a:pt x="187578" y="319404"/>
                  </a:lnTo>
                  <a:lnTo>
                    <a:pt x="168655" y="308609"/>
                  </a:lnTo>
                  <a:lnTo>
                    <a:pt x="112649" y="308609"/>
                  </a:lnTo>
                  <a:lnTo>
                    <a:pt x="130555" y="219582"/>
                  </a:lnTo>
                  <a:lnTo>
                    <a:pt x="130175" y="207517"/>
                  </a:lnTo>
                  <a:lnTo>
                    <a:pt x="124968" y="197357"/>
                  </a:lnTo>
                  <a:lnTo>
                    <a:pt x="115950" y="190119"/>
                  </a:lnTo>
                  <a:lnTo>
                    <a:pt x="104266" y="187451"/>
                  </a:lnTo>
                  <a:lnTo>
                    <a:pt x="51815" y="187451"/>
                  </a:lnTo>
                  <a:lnTo>
                    <a:pt x="55245" y="181609"/>
                  </a:lnTo>
                  <a:lnTo>
                    <a:pt x="53721" y="174116"/>
                  </a:lnTo>
                  <a:lnTo>
                    <a:pt x="35686" y="160654"/>
                  </a:lnTo>
                  <a:lnTo>
                    <a:pt x="53594" y="147319"/>
                  </a:lnTo>
                  <a:lnTo>
                    <a:pt x="53848" y="146938"/>
                  </a:lnTo>
                  <a:lnTo>
                    <a:pt x="55245" y="139700"/>
                  </a:lnTo>
                  <a:lnTo>
                    <a:pt x="51815" y="133857"/>
                  </a:lnTo>
                  <a:lnTo>
                    <a:pt x="149478" y="133857"/>
                  </a:lnTo>
                  <a:lnTo>
                    <a:pt x="127761" y="95250"/>
                  </a:lnTo>
                  <a:lnTo>
                    <a:pt x="127253" y="90931"/>
                  </a:lnTo>
                  <a:lnTo>
                    <a:pt x="127634" y="79120"/>
                  </a:lnTo>
                  <a:lnTo>
                    <a:pt x="160781" y="32892"/>
                  </a:lnTo>
                  <a:lnTo>
                    <a:pt x="183514" y="26796"/>
                  </a:lnTo>
                  <a:lnTo>
                    <a:pt x="249935" y="26796"/>
                  </a:lnTo>
                  <a:lnTo>
                    <a:pt x="249047" y="25526"/>
                  </a:lnTo>
                  <a:lnTo>
                    <a:pt x="221360" y="6857"/>
                  </a:lnTo>
                  <a:lnTo>
                    <a:pt x="187578" y="0"/>
                  </a:lnTo>
                  <a:close/>
                </a:path>
              </a:pathLst>
            </a:custGeom>
            <a:solidFill>
              <a:srgbClr val="603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07043" y="3958589"/>
              <a:ext cx="262381" cy="3221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668512" y="4304537"/>
              <a:ext cx="27305" cy="55880"/>
            </a:xfrm>
            <a:custGeom>
              <a:avLst/>
              <a:gdLst/>
              <a:ahLst/>
              <a:cxnLst/>
              <a:rect l="l" t="t" r="r" b="b"/>
              <a:pathLst>
                <a:path w="27304" h="55879">
                  <a:moveTo>
                    <a:pt x="26797" y="0"/>
                  </a:moveTo>
                  <a:lnTo>
                    <a:pt x="20193" y="1778"/>
                  </a:lnTo>
                  <a:lnTo>
                    <a:pt x="13462" y="2286"/>
                  </a:lnTo>
                  <a:lnTo>
                    <a:pt x="6604" y="1778"/>
                  </a:lnTo>
                  <a:lnTo>
                    <a:pt x="0" y="0"/>
                  </a:lnTo>
                  <a:lnTo>
                    <a:pt x="0" y="49784"/>
                  </a:lnTo>
                  <a:lnTo>
                    <a:pt x="6096" y="55880"/>
                  </a:lnTo>
                  <a:lnTo>
                    <a:pt x="20828" y="55880"/>
                  </a:lnTo>
                  <a:lnTo>
                    <a:pt x="26797" y="49784"/>
                  </a:lnTo>
                  <a:lnTo>
                    <a:pt x="26797" y="2286"/>
                  </a:lnTo>
                  <a:lnTo>
                    <a:pt x="26797" y="0"/>
                  </a:lnTo>
                  <a:close/>
                </a:path>
              </a:pathLst>
            </a:custGeom>
            <a:solidFill>
              <a:srgbClr val="603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2246058"/>
            <a:ext cx="2886011" cy="15811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7587" y="2768013"/>
            <a:ext cx="1983105" cy="8388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31500"/>
              </a:lnSpc>
              <a:spcBef>
                <a:spcPts val="110"/>
              </a:spcBef>
            </a:pPr>
            <a:r>
              <a:rPr sz="1350" spc="-45" dirty="0">
                <a:solidFill>
                  <a:srgbClr val="252323"/>
                </a:solidFill>
                <a:latin typeface="Verdana"/>
                <a:cs typeface="Verdana"/>
              </a:rPr>
              <a:t>Connecting</a:t>
            </a:r>
            <a:r>
              <a:rPr sz="1350" spc="-4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independent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professionals</a:t>
            </a:r>
            <a:r>
              <a:rPr sz="1350" spc="-4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52323"/>
                </a:solidFill>
                <a:latin typeface="Verdana"/>
                <a:cs typeface="Verdana"/>
              </a:rPr>
              <a:t>in</a:t>
            </a: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52323"/>
                </a:solidFill>
                <a:latin typeface="Verdana"/>
                <a:cs typeface="Verdana"/>
              </a:rPr>
              <a:t>tech</a:t>
            </a:r>
            <a:r>
              <a:rPr sz="1350" spc="-3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52323"/>
                </a:solidFill>
                <a:latin typeface="Verdana"/>
                <a:cs typeface="Verdana"/>
              </a:rPr>
              <a:t>and </a:t>
            </a:r>
            <a:r>
              <a:rPr sz="1350" spc="-10" dirty="0">
                <a:solidFill>
                  <a:srgbClr val="252323"/>
                </a:solidFill>
                <a:latin typeface="Verdana"/>
                <a:cs typeface="Verdana"/>
              </a:rPr>
              <a:t>design.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57536" y="2246058"/>
            <a:ext cx="2886075" cy="15811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25366" y="2832938"/>
            <a:ext cx="2155190" cy="233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Providing</a:t>
            </a:r>
            <a:r>
              <a:rPr sz="1350" spc="-5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opportunities</a:t>
            </a:r>
            <a:r>
              <a:rPr sz="1350" spc="-4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52323"/>
                </a:solidFill>
                <a:latin typeface="Verdana"/>
                <a:cs typeface="Verdana"/>
              </a:rPr>
              <a:t>for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25366" y="3374516"/>
            <a:ext cx="78168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solidFill>
                  <a:srgbClr val="252323"/>
                </a:solidFill>
                <a:latin typeface="Verdana"/>
                <a:cs typeface="Verdana"/>
              </a:rPr>
              <a:t>creators.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0075" y="3998531"/>
            <a:ext cx="5943600" cy="1038225"/>
            <a:chOff x="600075" y="3998531"/>
            <a:chExt cx="5943600" cy="1038225"/>
          </a:xfrm>
        </p:grpSpPr>
        <p:sp>
          <p:nvSpPr>
            <p:cNvPr id="8" name="object 8"/>
            <p:cNvSpPr/>
            <p:nvPr/>
          </p:nvSpPr>
          <p:spPr>
            <a:xfrm>
              <a:off x="604837" y="4003294"/>
              <a:ext cx="5934075" cy="1028700"/>
            </a:xfrm>
            <a:custGeom>
              <a:avLst/>
              <a:gdLst/>
              <a:ahLst/>
              <a:cxnLst/>
              <a:rect l="l" t="t" r="r" b="b"/>
              <a:pathLst>
                <a:path w="5934075" h="1028700">
                  <a:moveTo>
                    <a:pt x="5882449" y="0"/>
                  </a:moveTo>
                  <a:lnTo>
                    <a:pt x="51612" y="0"/>
                  </a:lnTo>
                  <a:lnTo>
                    <a:pt x="48031" y="381"/>
                  </a:lnTo>
                  <a:lnTo>
                    <a:pt x="13614" y="18795"/>
                  </a:lnTo>
                  <a:lnTo>
                    <a:pt x="0" y="51688"/>
                  </a:lnTo>
                  <a:lnTo>
                    <a:pt x="0" y="977138"/>
                  </a:lnTo>
                  <a:lnTo>
                    <a:pt x="18745" y="1015110"/>
                  </a:lnTo>
                  <a:lnTo>
                    <a:pt x="51612" y="1028699"/>
                  </a:lnTo>
                  <a:lnTo>
                    <a:pt x="5882449" y="1028699"/>
                  </a:lnTo>
                  <a:lnTo>
                    <a:pt x="5920422" y="1010030"/>
                  </a:lnTo>
                  <a:lnTo>
                    <a:pt x="5934011" y="977138"/>
                  </a:lnTo>
                  <a:lnTo>
                    <a:pt x="5934011" y="51688"/>
                  </a:lnTo>
                  <a:lnTo>
                    <a:pt x="5915342" y="13715"/>
                  </a:lnTo>
                  <a:lnTo>
                    <a:pt x="5886005" y="381"/>
                  </a:lnTo>
                  <a:lnTo>
                    <a:pt x="5882449" y="0"/>
                  </a:lnTo>
                  <a:close/>
                </a:path>
              </a:pathLst>
            </a:custGeom>
            <a:solidFill>
              <a:srgbClr val="DF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4837" y="4003294"/>
              <a:ext cx="5934075" cy="1028700"/>
            </a:xfrm>
            <a:custGeom>
              <a:avLst/>
              <a:gdLst/>
              <a:ahLst/>
              <a:cxnLst/>
              <a:rect l="l" t="t" r="r" b="b"/>
              <a:pathLst>
                <a:path w="5934075" h="1028700">
                  <a:moveTo>
                    <a:pt x="0" y="973454"/>
                  </a:moveTo>
                  <a:lnTo>
                    <a:pt x="0" y="55244"/>
                  </a:lnTo>
                  <a:lnTo>
                    <a:pt x="0" y="51688"/>
                  </a:lnTo>
                  <a:lnTo>
                    <a:pt x="355" y="48132"/>
                  </a:lnTo>
                  <a:lnTo>
                    <a:pt x="1054" y="44576"/>
                  </a:lnTo>
                  <a:lnTo>
                    <a:pt x="1765" y="41020"/>
                  </a:lnTo>
                  <a:lnTo>
                    <a:pt x="2819" y="37464"/>
                  </a:lnTo>
                  <a:lnTo>
                    <a:pt x="4203" y="34162"/>
                  </a:lnTo>
                  <a:lnTo>
                    <a:pt x="5587" y="30860"/>
                  </a:lnTo>
                  <a:lnTo>
                    <a:pt x="44462" y="1143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766" y="0"/>
                  </a:lnTo>
                  <a:lnTo>
                    <a:pt x="5882449" y="0"/>
                  </a:lnTo>
                  <a:lnTo>
                    <a:pt x="5886005" y="381"/>
                  </a:lnTo>
                  <a:lnTo>
                    <a:pt x="5889561" y="1143"/>
                  </a:lnTo>
                  <a:lnTo>
                    <a:pt x="5893117" y="1777"/>
                  </a:lnTo>
                  <a:lnTo>
                    <a:pt x="5896673" y="2920"/>
                  </a:lnTo>
                  <a:lnTo>
                    <a:pt x="5899975" y="4318"/>
                  </a:lnTo>
                  <a:lnTo>
                    <a:pt x="5903277" y="5587"/>
                  </a:lnTo>
                  <a:lnTo>
                    <a:pt x="5932995" y="44576"/>
                  </a:lnTo>
                  <a:lnTo>
                    <a:pt x="5934011" y="51688"/>
                  </a:lnTo>
                  <a:lnTo>
                    <a:pt x="5934011" y="55244"/>
                  </a:lnTo>
                  <a:lnTo>
                    <a:pt x="5934011" y="973454"/>
                  </a:lnTo>
                  <a:lnTo>
                    <a:pt x="5934011" y="977138"/>
                  </a:lnTo>
                  <a:lnTo>
                    <a:pt x="5933757" y="980693"/>
                  </a:lnTo>
                  <a:lnTo>
                    <a:pt x="5932995" y="984249"/>
                  </a:lnTo>
                  <a:lnTo>
                    <a:pt x="5932360" y="987805"/>
                  </a:lnTo>
                  <a:lnTo>
                    <a:pt x="5889561" y="1027683"/>
                  </a:lnTo>
                  <a:lnTo>
                    <a:pt x="5882449" y="1028699"/>
                  </a:lnTo>
                  <a:lnTo>
                    <a:pt x="5878766" y="1028699"/>
                  </a:lnTo>
                  <a:lnTo>
                    <a:pt x="55245" y="1028699"/>
                  </a:lnTo>
                  <a:lnTo>
                    <a:pt x="51612" y="1028699"/>
                  </a:lnTo>
                  <a:lnTo>
                    <a:pt x="48031" y="1028445"/>
                  </a:lnTo>
                  <a:lnTo>
                    <a:pt x="44462" y="1027683"/>
                  </a:lnTo>
                  <a:lnTo>
                    <a:pt x="40906" y="1027048"/>
                  </a:lnTo>
                  <a:lnTo>
                    <a:pt x="9309" y="1004188"/>
                  </a:lnTo>
                  <a:lnTo>
                    <a:pt x="7289" y="1001140"/>
                  </a:lnTo>
                  <a:lnTo>
                    <a:pt x="5587" y="997965"/>
                  </a:lnTo>
                  <a:lnTo>
                    <a:pt x="4203" y="994663"/>
                  </a:lnTo>
                  <a:lnTo>
                    <a:pt x="2819" y="991361"/>
                  </a:lnTo>
                  <a:lnTo>
                    <a:pt x="1765" y="987805"/>
                  </a:lnTo>
                  <a:lnTo>
                    <a:pt x="1054" y="984249"/>
                  </a:lnTo>
                  <a:lnTo>
                    <a:pt x="355" y="980693"/>
                  </a:lnTo>
                  <a:lnTo>
                    <a:pt x="0" y="977138"/>
                  </a:lnTo>
                  <a:lnTo>
                    <a:pt x="0" y="973454"/>
                  </a:lnTo>
                  <a:close/>
                </a:path>
              </a:pathLst>
            </a:custGeom>
            <a:ln w="9525">
              <a:solidFill>
                <a:srgbClr val="C5BB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67587" y="4142308"/>
            <a:ext cx="4424680" cy="67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-10" dirty="0">
                <a:solidFill>
                  <a:srgbClr val="252323"/>
                </a:solidFill>
                <a:latin typeface="Georgia"/>
                <a:cs typeface="Georgia"/>
              </a:rPr>
              <a:t>Consultants</a:t>
            </a:r>
            <a:endParaRPr sz="18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Matching</a:t>
            </a:r>
            <a:r>
              <a:rPr sz="1350" spc="-13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52323"/>
                </a:solidFill>
                <a:latin typeface="Verdana"/>
                <a:cs typeface="Verdana"/>
              </a:rPr>
              <a:t>specialists</a:t>
            </a:r>
            <a:r>
              <a:rPr sz="1350" spc="-12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with</a:t>
            </a:r>
            <a:r>
              <a:rPr sz="1350" spc="-10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project-</a:t>
            </a: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based</a:t>
            </a:r>
            <a:r>
              <a:rPr sz="1350" spc="-12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52323"/>
                </a:solidFill>
                <a:latin typeface="Verdana"/>
                <a:cs typeface="Verdana"/>
              </a:rPr>
              <a:t>consulting</a:t>
            </a:r>
            <a:r>
              <a:rPr sz="1350" spc="-11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52323"/>
                </a:solidFill>
                <a:latin typeface="Verdana"/>
                <a:cs typeface="Verdana"/>
              </a:rPr>
              <a:t>roles.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72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45" dirty="0"/>
              <a:t>Target</a:t>
            </a:r>
            <a:r>
              <a:rPr spc="-290" dirty="0"/>
              <a:t> </a:t>
            </a:r>
            <a:r>
              <a:rPr spc="-375" dirty="0"/>
              <a:t>User</a:t>
            </a:r>
            <a:r>
              <a:rPr spc="-290" dirty="0"/>
              <a:t> </a:t>
            </a:r>
            <a:r>
              <a:rPr spc="-395" dirty="0"/>
              <a:t>Segments</a:t>
            </a: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7559" y="-1"/>
            <a:ext cx="4282440" cy="64382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2936" y="2307566"/>
            <a:ext cx="10168890" cy="2010410"/>
            <a:chOff x="622936" y="2307566"/>
            <a:chExt cx="10168890" cy="2010410"/>
          </a:xfrm>
        </p:grpSpPr>
        <p:sp>
          <p:nvSpPr>
            <p:cNvPr id="3" name="object 3"/>
            <p:cNvSpPr/>
            <p:nvPr/>
          </p:nvSpPr>
          <p:spPr>
            <a:xfrm>
              <a:off x="2314193" y="2312924"/>
              <a:ext cx="1687830" cy="637540"/>
            </a:xfrm>
            <a:custGeom>
              <a:avLst/>
              <a:gdLst/>
              <a:ahLst/>
              <a:cxnLst/>
              <a:rect l="l" t="t" r="r" b="b"/>
              <a:pathLst>
                <a:path w="1687829" h="637539">
                  <a:moveTo>
                    <a:pt x="843914" y="0"/>
                  </a:moveTo>
                  <a:lnTo>
                    <a:pt x="0" y="637539"/>
                  </a:lnTo>
                  <a:lnTo>
                    <a:pt x="1687830" y="637539"/>
                  </a:lnTo>
                  <a:lnTo>
                    <a:pt x="843914" y="0"/>
                  </a:lnTo>
                  <a:close/>
                </a:path>
              </a:pathLst>
            </a:custGeom>
            <a:solidFill>
              <a:srgbClr val="DF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14193" y="2312924"/>
              <a:ext cx="1687830" cy="637540"/>
            </a:xfrm>
            <a:custGeom>
              <a:avLst/>
              <a:gdLst/>
              <a:ahLst/>
              <a:cxnLst/>
              <a:rect l="l" t="t" r="r" b="b"/>
              <a:pathLst>
                <a:path w="1687829" h="637539">
                  <a:moveTo>
                    <a:pt x="843914" y="0"/>
                  </a:moveTo>
                  <a:lnTo>
                    <a:pt x="1687830" y="637539"/>
                  </a:lnTo>
                  <a:lnTo>
                    <a:pt x="0" y="637539"/>
                  </a:lnTo>
                  <a:lnTo>
                    <a:pt x="843914" y="0"/>
                  </a:lnTo>
                  <a:close/>
                </a:path>
              </a:pathLst>
            </a:custGeom>
            <a:ln w="10714">
              <a:solidFill>
                <a:srgbClr val="C5BB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47744" y="2965450"/>
              <a:ext cx="6743700" cy="9525"/>
            </a:xfrm>
            <a:custGeom>
              <a:avLst/>
              <a:gdLst/>
              <a:ahLst/>
              <a:cxnLst/>
              <a:rect l="l" t="t" r="r" b="b"/>
              <a:pathLst>
                <a:path w="6743700" h="9525">
                  <a:moveTo>
                    <a:pt x="6736841" y="0"/>
                  </a:moveTo>
                  <a:lnTo>
                    <a:pt x="6857" y="0"/>
                  </a:lnTo>
                  <a:lnTo>
                    <a:pt x="4698" y="381"/>
                  </a:lnTo>
                  <a:lnTo>
                    <a:pt x="888" y="2286"/>
                  </a:lnTo>
                  <a:lnTo>
                    <a:pt x="0" y="3429"/>
                  </a:lnTo>
                  <a:lnTo>
                    <a:pt x="0" y="6096"/>
                  </a:lnTo>
                  <a:lnTo>
                    <a:pt x="888" y="7112"/>
                  </a:lnTo>
                  <a:lnTo>
                    <a:pt x="4698" y="9017"/>
                  </a:lnTo>
                  <a:lnTo>
                    <a:pt x="6857" y="9525"/>
                  </a:lnTo>
                  <a:lnTo>
                    <a:pt x="6736841" y="9525"/>
                  </a:lnTo>
                  <a:lnTo>
                    <a:pt x="6739128" y="9017"/>
                  </a:lnTo>
                  <a:lnTo>
                    <a:pt x="6742810" y="7112"/>
                  </a:lnTo>
                  <a:lnTo>
                    <a:pt x="6743700" y="6096"/>
                  </a:lnTo>
                  <a:lnTo>
                    <a:pt x="6743700" y="3429"/>
                  </a:lnTo>
                  <a:lnTo>
                    <a:pt x="6742810" y="2286"/>
                  </a:lnTo>
                  <a:lnTo>
                    <a:pt x="6739128" y="381"/>
                  </a:lnTo>
                  <a:lnTo>
                    <a:pt x="6736841" y="0"/>
                  </a:lnTo>
                  <a:close/>
                </a:path>
              </a:pathLst>
            </a:custGeom>
            <a:solidFill>
              <a:srgbClr val="C5B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66469" y="2998724"/>
              <a:ext cx="3376295" cy="637540"/>
            </a:xfrm>
            <a:custGeom>
              <a:avLst/>
              <a:gdLst/>
              <a:ahLst/>
              <a:cxnLst/>
              <a:rect l="l" t="t" r="r" b="b"/>
              <a:pathLst>
                <a:path w="3376295" h="637539">
                  <a:moveTo>
                    <a:pt x="2540381" y="0"/>
                  </a:moveTo>
                  <a:lnTo>
                    <a:pt x="835406" y="0"/>
                  </a:lnTo>
                  <a:lnTo>
                    <a:pt x="0" y="637540"/>
                  </a:lnTo>
                  <a:lnTo>
                    <a:pt x="3375786" y="637540"/>
                  </a:lnTo>
                  <a:lnTo>
                    <a:pt x="2540381" y="0"/>
                  </a:lnTo>
                  <a:close/>
                </a:path>
              </a:pathLst>
            </a:custGeom>
            <a:solidFill>
              <a:srgbClr val="DF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66469" y="2998724"/>
              <a:ext cx="3376295" cy="637540"/>
            </a:xfrm>
            <a:custGeom>
              <a:avLst/>
              <a:gdLst/>
              <a:ahLst/>
              <a:cxnLst/>
              <a:rect l="l" t="t" r="r" b="b"/>
              <a:pathLst>
                <a:path w="3376295" h="637539">
                  <a:moveTo>
                    <a:pt x="835406" y="0"/>
                  </a:moveTo>
                  <a:lnTo>
                    <a:pt x="2540381" y="0"/>
                  </a:lnTo>
                  <a:lnTo>
                    <a:pt x="3375786" y="637540"/>
                  </a:lnTo>
                  <a:lnTo>
                    <a:pt x="0" y="637540"/>
                  </a:lnTo>
                  <a:lnTo>
                    <a:pt x="835406" y="0"/>
                  </a:lnTo>
                  <a:close/>
                </a:path>
              </a:pathLst>
            </a:custGeom>
            <a:ln w="10714">
              <a:solidFill>
                <a:srgbClr val="C5BB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85944" y="3651250"/>
              <a:ext cx="5895975" cy="9525"/>
            </a:xfrm>
            <a:custGeom>
              <a:avLst/>
              <a:gdLst/>
              <a:ahLst/>
              <a:cxnLst/>
              <a:rect l="l" t="t" r="r" b="b"/>
              <a:pathLst>
                <a:path w="5895975" h="9525">
                  <a:moveTo>
                    <a:pt x="5889116" y="0"/>
                  </a:moveTo>
                  <a:lnTo>
                    <a:pt x="6857" y="0"/>
                  </a:lnTo>
                  <a:lnTo>
                    <a:pt x="4698" y="381"/>
                  </a:lnTo>
                  <a:lnTo>
                    <a:pt x="888" y="2286"/>
                  </a:lnTo>
                  <a:lnTo>
                    <a:pt x="0" y="3429"/>
                  </a:lnTo>
                  <a:lnTo>
                    <a:pt x="0" y="6096"/>
                  </a:lnTo>
                  <a:lnTo>
                    <a:pt x="888" y="7112"/>
                  </a:lnTo>
                  <a:lnTo>
                    <a:pt x="4698" y="9017"/>
                  </a:lnTo>
                  <a:lnTo>
                    <a:pt x="6857" y="9525"/>
                  </a:lnTo>
                  <a:lnTo>
                    <a:pt x="5889116" y="9525"/>
                  </a:lnTo>
                  <a:lnTo>
                    <a:pt x="5891403" y="9017"/>
                  </a:lnTo>
                  <a:lnTo>
                    <a:pt x="5895085" y="7112"/>
                  </a:lnTo>
                  <a:lnTo>
                    <a:pt x="5895975" y="6096"/>
                  </a:lnTo>
                  <a:lnTo>
                    <a:pt x="5895975" y="3429"/>
                  </a:lnTo>
                  <a:lnTo>
                    <a:pt x="5895085" y="2286"/>
                  </a:lnTo>
                  <a:lnTo>
                    <a:pt x="5891403" y="381"/>
                  </a:lnTo>
                  <a:lnTo>
                    <a:pt x="5889116" y="0"/>
                  </a:lnTo>
                  <a:close/>
                </a:path>
              </a:pathLst>
            </a:custGeom>
            <a:solidFill>
              <a:srgbClr val="C5B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8294" y="3674999"/>
              <a:ext cx="5064125" cy="637540"/>
            </a:xfrm>
            <a:custGeom>
              <a:avLst/>
              <a:gdLst/>
              <a:ahLst/>
              <a:cxnLst/>
              <a:rect l="l" t="t" r="r" b="b"/>
              <a:pathLst>
                <a:path w="5064125" h="637539">
                  <a:moveTo>
                    <a:pt x="4236821" y="0"/>
                  </a:moveTo>
                  <a:lnTo>
                    <a:pt x="826871" y="0"/>
                  </a:lnTo>
                  <a:lnTo>
                    <a:pt x="0" y="637540"/>
                  </a:lnTo>
                  <a:lnTo>
                    <a:pt x="5063718" y="637540"/>
                  </a:lnTo>
                  <a:lnTo>
                    <a:pt x="4236821" y="0"/>
                  </a:lnTo>
                  <a:close/>
                </a:path>
              </a:pathLst>
            </a:custGeom>
            <a:solidFill>
              <a:srgbClr val="DF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8294" y="3674999"/>
              <a:ext cx="5064125" cy="637540"/>
            </a:xfrm>
            <a:custGeom>
              <a:avLst/>
              <a:gdLst/>
              <a:ahLst/>
              <a:cxnLst/>
              <a:rect l="l" t="t" r="r" b="b"/>
              <a:pathLst>
                <a:path w="5064125" h="637539">
                  <a:moveTo>
                    <a:pt x="826871" y="0"/>
                  </a:moveTo>
                  <a:lnTo>
                    <a:pt x="4236821" y="0"/>
                  </a:lnTo>
                  <a:lnTo>
                    <a:pt x="5063718" y="637540"/>
                  </a:lnTo>
                  <a:lnTo>
                    <a:pt x="0" y="637540"/>
                  </a:lnTo>
                  <a:lnTo>
                    <a:pt x="826871" y="0"/>
                  </a:lnTo>
                  <a:close/>
                </a:path>
              </a:pathLst>
            </a:custGeom>
            <a:ln w="10714">
              <a:solidFill>
                <a:srgbClr val="C5BB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0517" y="2640457"/>
              <a:ext cx="92582" cy="1301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79443" y="2517013"/>
              <a:ext cx="1077468" cy="2283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4119" y="3202813"/>
              <a:ext cx="980947" cy="18110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66511" y="3879469"/>
              <a:ext cx="1058037" cy="181101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8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40" dirty="0"/>
              <a:t>Business</a:t>
            </a:r>
            <a:r>
              <a:rPr spc="-195" dirty="0"/>
              <a:t> </a:t>
            </a:r>
            <a:r>
              <a:rPr spc="-100" dirty="0"/>
              <a:t>Model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86231" y="3127629"/>
            <a:ext cx="10212705" cy="1892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04440">
              <a:lnSpc>
                <a:spcPct val="100000"/>
              </a:lnSpc>
              <a:spcBef>
                <a:spcPts val="95"/>
              </a:spcBef>
            </a:pPr>
            <a:r>
              <a:rPr sz="1900" b="1" spc="-50" dirty="0">
                <a:solidFill>
                  <a:srgbClr val="252323"/>
                </a:solidFill>
                <a:latin typeface="Georgia"/>
                <a:cs typeface="Georgia"/>
              </a:rPr>
              <a:t>2</a:t>
            </a:r>
            <a:endParaRPr sz="1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900">
              <a:latin typeface="Georgia"/>
              <a:cs typeface="Georgia"/>
            </a:endParaRPr>
          </a:p>
          <a:p>
            <a:pPr marL="2504440">
              <a:lnSpc>
                <a:spcPct val="100000"/>
              </a:lnSpc>
            </a:pPr>
            <a:r>
              <a:rPr sz="1900" b="1" spc="-50" dirty="0">
                <a:solidFill>
                  <a:srgbClr val="252323"/>
                </a:solidFill>
                <a:latin typeface="Georgia"/>
                <a:cs typeface="Georgia"/>
              </a:rPr>
              <a:t>3</a:t>
            </a:r>
            <a:endParaRPr sz="1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900">
              <a:latin typeface="Georgia"/>
              <a:cs typeface="Georgia"/>
            </a:endParaRPr>
          </a:p>
          <a:p>
            <a:pPr marL="12700" marR="5080">
              <a:lnSpc>
                <a:spcPct val="134800"/>
              </a:lnSpc>
            </a:pP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NextWork</a:t>
            </a:r>
            <a:r>
              <a:rPr sz="1350" spc="-14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52323"/>
                </a:solidFill>
                <a:latin typeface="Verdana"/>
                <a:cs typeface="Verdana"/>
              </a:rPr>
              <a:t>offers</a:t>
            </a:r>
            <a:r>
              <a:rPr sz="1350" spc="-12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multiple</a:t>
            </a:r>
            <a:r>
              <a:rPr sz="1350" spc="-13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revenue</a:t>
            </a:r>
            <a:r>
              <a:rPr sz="1350" spc="-13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streams.</a:t>
            </a:r>
            <a:r>
              <a:rPr sz="1350" spc="-12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252323"/>
                </a:solidFill>
                <a:latin typeface="Verdana"/>
                <a:cs typeface="Verdana"/>
              </a:rPr>
              <a:t>A</a:t>
            </a:r>
            <a:r>
              <a:rPr sz="1350" spc="-13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freemium</a:t>
            </a:r>
            <a:r>
              <a:rPr sz="1350" spc="-14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52323"/>
                </a:solidFill>
                <a:latin typeface="Verdana"/>
                <a:cs typeface="Verdana"/>
              </a:rPr>
              <a:t>subscription</a:t>
            </a:r>
            <a:r>
              <a:rPr sz="1350" spc="-13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52323"/>
                </a:solidFill>
                <a:latin typeface="Verdana"/>
                <a:cs typeface="Verdana"/>
              </a:rPr>
              <a:t>model</a:t>
            </a:r>
            <a:r>
              <a:rPr sz="1350" spc="-12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provides</a:t>
            </a:r>
            <a:r>
              <a:rPr sz="1350" spc="-12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52323"/>
                </a:solidFill>
                <a:latin typeface="Verdana"/>
                <a:cs typeface="Verdana"/>
              </a:rPr>
              <a:t>access</a:t>
            </a:r>
            <a:r>
              <a:rPr sz="1350" spc="-14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to</a:t>
            </a:r>
            <a:r>
              <a:rPr sz="1350" spc="-114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52323"/>
                </a:solidFill>
                <a:latin typeface="Verdana"/>
                <a:cs typeface="Verdana"/>
              </a:rPr>
              <a:t>basic</a:t>
            </a:r>
            <a:r>
              <a:rPr sz="1350" spc="-12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features.</a:t>
            </a:r>
            <a:r>
              <a:rPr sz="1350" spc="-12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Premium</a:t>
            </a:r>
            <a:r>
              <a:rPr sz="1350" spc="-12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52323"/>
                </a:solidFill>
                <a:latin typeface="Verdana"/>
                <a:cs typeface="Verdana"/>
              </a:rPr>
              <a:t>features</a:t>
            </a:r>
            <a:r>
              <a:rPr sz="1350" spc="-12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52323"/>
                </a:solidFill>
                <a:latin typeface="Verdana"/>
                <a:cs typeface="Verdana"/>
              </a:rPr>
              <a:t>are </a:t>
            </a: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available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52323"/>
                </a:solidFill>
                <a:latin typeface="Verdana"/>
                <a:cs typeface="Verdana"/>
              </a:rPr>
              <a:t>for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advanced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52323"/>
                </a:solidFill>
                <a:latin typeface="Verdana"/>
                <a:cs typeface="Verdana"/>
              </a:rPr>
              <a:t>users.</a:t>
            </a:r>
            <a:r>
              <a:rPr sz="1350" spc="-16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Enterprise</a:t>
            </a:r>
            <a:r>
              <a:rPr sz="1350" spc="-15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client</a:t>
            </a:r>
            <a:r>
              <a:rPr sz="1350" spc="-14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packages</a:t>
            </a:r>
            <a:r>
              <a:rPr sz="1350" spc="-170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52323"/>
                </a:solidFill>
                <a:latin typeface="Verdana"/>
                <a:cs typeface="Verdana"/>
              </a:rPr>
              <a:t>support</a:t>
            </a:r>
            <a:r>
              <a:rPr sz="1350" spc="-14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52323"/>
                </a:solidFill>
                <a:latin typeface="Verdana"/>
                <a:cs typeface="Verdana"/>
              </a:rPr>
              <a:t>larger</a:t>
            </a:r>
            <a:r>
              <a:rPr sz="1350" spc="-165" dirty="0">
                <a:solidFill>
                  <a:srgbClr val="252323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52323"/>
                </a:solidFill>
                <a:latin typeface="Verdana"/>
                <a:cs typeface="Verdana"/>
              </a:rPr>
              <a:t>organizations.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9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25" dirty="0"/>
              <a:t>Vision</a:t>
            </a:r>
            <a:r>
              <a:rPr spc="-55" dirty="0"/>
              <a:t> </a:t>
            </a:r>
            <a:r>
              <a:rPr spc="-385" dirty="0"/>
              <a:t>and</a:t>
            </a:r>
            <a:r>
              <a:rPr spc="-60" dirty="0"/>
              <a:t> </a:t>
            </a:r>
            <a:r>
              <a:rPr spc="-365" dirty="0"/>
              <a:t>Future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5" dirty="0"/>
              <a:t>Global</a:t>
            </a:r>
            <a:r>
              <a:rPr spc="-75" dirty="0"/>
              <a:t> </a:t>
            </a:r>
            <a:r>
              <a:rPr spc="-10" dirty="0"/>
              <a:t>Expansion</a:t>
            </a: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350" b="0" spc="-70" dirty="0">
                <a:latin typeface="Verdana"/>
                <a:cs typeface="Verdana"/>
              </a:rPr>
              <a:t>Scaling</a:t>
            </a:r>
            <a:r>
              <a:rPr sz="1350" b="0" spc="-135" dirty="0">
                <a:latin typeface="Verdana"/>
                <a:cs typeface="Verdana"/>
              </a:rPr>
              <a:t> </a:t>
            </a:r>
            <a:r>
              <a:rPr sz="1350" b="0" spc="-55" dirty="0">
                <a:latin typeface="Verdana"/>
                <a:cs typeface="Verdana"/>
              </a:rPr>
              <a:t>our</a:t>
            </a:r>
            <a:r>
              <a:rPr sz="1350" b="0" spc="-114" dirty="0">
                <a:latin typeface="Verdana"/>
                <a:cs typeface="Verdana"/>
              </a:rPr>
              <a:t> </a:t>
            </a:r>
            <a:r>
              <a:rPr sz="1350" b="0" spc="-75" dirty="0">
                <a:latin typeface="Verdana"/>
                <a:cs typeface="Verdana"/>
              </a:rPr>
              <a:t>platform</a:t>
            </a:r>
            <a:r>
              <a:rPr sz="1350" b="0" spc="-110" dirty="0">
                <a:latin typeface="Verdana"/>
                <a:cs typeface="Verdana"/>
              </a:rPr>
              <a:t> </a:t>
            </a:r>
            <a:r>
              <a:rPr sz="1350" b="0" spc="-50" dirty="0">
                <a:latin typeface="Verdana"/>
                <a:cs typeface="Verdana"/>
              </a:rPr>
              <a:t>to</a:t>
            </a:r>
            <a:r>
              <a:rPr sz="1350" b="0" spc="-110" dirty="0">
                <a:latin typeface="Verdana"/>
                <a:cs typeface="Verdana"/>
              </a:rPr>
              <a:t> </a:t>
            </a:r>
            <a:r>
              <a:rPr sz="1350" b="0" spc="-70" dirty="0">
                <a:latin typeface="Verdana"/>
                <a:cs typeface="Verdana"/>
              </a:rPr>
              <a:t>reach</a:t>
            </a:r>
            <a:r>
              <a:rPr sz="1350" b="0" spc="-120" dirty="0">
                <a:latin typeface="Verdana"/>
                <a:cs typeface="Verdana"/>
              </a:rPr>
              <a:t> </a:t>
            </a:r>
            <a:r>
              <a:rPr sz="1350" b="0" spc="-75" dirty="0">
                <a:latin typeface="Verdana"/>
                <a:cs typeface="Verdana"/>
              </a:rPr>
              <a:t>freelance</a:t>
            </a:r>
            <a:r>
              <a:rPr sz="1350" b="0" spc="-114" dirty="0">
                <a:latin typeface="Verdana"/>
                <a:cs typeface="Verdana"/>
              </a:rPr>
              <a:t> </a:t>
            </a:r>
            <a:r>
              <a:rPr sz="1350" b="0" spc="-80" dirty="0">
                <a:latin typeface="Verdana"/>
                <a:cs typeface="Verdana"/>
              </a:rPr>
              <a:t>professionals</a:t>
            </a:r>
            <a:r>
              <a:rPr sz="1350" b="0" spc="-125" dirty="0">
                <a:latin typeface="Verdana"/>
                <a:cs typeface="Verdana"/>
              </a:rPr>
              <a:t> </a:t>
            </a:r>
            <a:r>
              <a:rPr sz="1350" b="0" spc="-10" dirty="0">
                <a:latin typeface="Verdana"/>
                <a:cs typeface="Verdana"/>
              </a:rPr>
              <a:t>worldwide.</a:t>
            </a:r>
            <a:endParaRPr sz="1350">
              <a:latin typeface="Verdana"/>
              <a:cs typeface="Verdana"/>
            </a:endParaRPr>
          </a:p>
          <a:p>
            <a:pPr marL="268605">
              <a:lnSpc>
                <a:spcPct val="100000"/>
              </a:lnSpc>
              <a:spcBef>
                <a:spcPts val="1485"/>
              </a:spcBef>
            </a:pPr>
            <a:r>
              <a:rPr spc="-185" dirty="0"/>
              <a:t>Continuous</a:t>
            </a:r>
            <a:r>
              <a:rPr spc="105" dirty="0"/>
              <a:t> </a:t>
            </a:r>
            <a:r>
              <a:rPr spc="-10" dirty="0"/>
              <a:t>Innovation</a:t>
            </a:r>
          </a:p>
          <a:p>
            <a:pPr marL="268605" marR="5080">
              <a:lnSpc>
                <a:spcPct val="134100"/>
              </a:lnSpc>
              <a:spcBef>
                <a:spcPts val="740"/>
              </a:spcBef>
            </a:pPr>
            <a:r>
              <a:rPr sz="1350" b="0" spc="-65" dirty="0">
                <a:latin typeface="Verdana"/>
                <a:cs typeface="Verdana"/>
              </a:rPr>
              <a:t>Investing</a:t>
            </a:r>
            <a:r>
              <a:rPr sz="1350" b="0" spc="-195" dirty="0">
                <a:latin typeface="Verdana"/>
                <a:cs typeface="Verdana"/>
              </a:rPr>
              <a:t> </a:t>
            </a:r>
            <a:r>
              <a:rPr sz="1350" b="0" spc="-30" dirty="0">
                <a:latin typeface="Verdana"/>
                <a:cs typeface="Verdana"/>
              </a:rPr>
              <a:t>in</a:t>
            </a:r>
            <a:r>
              <a:rPr sz="1350" b="0" spc="-190" dirty="0">
                <a:latin typeface="Verdana"/>
                <a:cs typeface="Verdana"/>
              </a:rPr>
              <a:t> </a:t>
            </a:r>
            <a:r>
              <a:rPr sz="1350" b="0" spc="-45" dirty="0">
                <a:latin typeface="Verdana"/>
                <a:cs typeface="Verdana"/>
              </a:rPr>
              <a:t>new</a:t>
            </a:r>
            <a:r>
              <a:rPr sz="1350" b="0" spc="-180" dirty="0">
                <a:latin typeface="Verdana"/>
                <a:cs typeface="Verdana"/>
              </a:rPr>
              <a:t> </a:t>
            </a:r>
            <a:r>
              <a:rPr sz="1350" b="0" spc="-70" dirty="0">
                <a:latin typeface="Verdana"/>
                <a:cs typeface="Verdana"/>
              </a:rPr>
              <a:t>technologies</a:t>
            </a:r>
            <a:r>
              <a:rPr sz="1350" b="0" spc="-185" dirty="0">
                <a:latin typeface="Verdana"/>
                <a:cs typeface="Verdana"/>
              </a:rPr>
              <a:t> </a:t>
            </a:r>
            <a:r>
              <a:rPr sz="1350" b="0" spc="-40" dirty="0">
                <a:latin typeface="Verdana"/>
                <a:cs typeface="Verdana"/>
              </a:rPr>
              <a:t>to</a:t>
            </a:r>
            <a:r>
              <a:rPr sz="1350" b="0" spc="-165" dirty="0">
                <a:latin typeface="Verdana"/>
                <a:cs typeface="Verdana"/>
              </a:rPr>
              <a:t> </a:t>
            </a:r>
            <a:r>
              <a:rPr sz="1350" b="0" spc="-65" dirty="0">
                <a:latin typeface="Verdana"/>
                <a:cs typeface="Verdana"/>
              </a:rPr>
              <a:t>enhance</a:t>
            </a:r>
            <a:r>
              <a:rPr sz="1350" b="0" spc="-190" dirty="0">
                <a:latin typeface="Verdana"/>
                <a:cs typeface="Verdana"/>
              </a:rPr>
              <a:t> </a:t>
            </a:r>
            <a:r>
              <a:rPr sz="1350" b="0" spc="-50" dirty="0">
                <a:latin typeface="Verdana"/>
                <a:cs typeface="Verdana"/>
              </a:rPr>
              <a:t>the</a:t>
            </a:r>
            <a:r>
              <a:rPr sz="1350" b="0" spc="-180" dirty="0">
                <a:latin typeface="Verdana"/>
                <a:cs typeface="Verdana"/>
              </a:rPr>
              <a:t> </a:t>
            </a:r>
            <a:r>
              <a:rPr sz="1350" b="0" spc="-55" dirty="0">
                <a:latin typeface="Verdana"/>
                <a:cs typeface="Verdana"/>
              </a:rPr>
              <a:t>user</a:t>
            </a:r>
            <a:r>
              <a:rPr sz="1350" b="0" spc="-175" dirty="0">
                <a:latin typeface="Verdana"/>
                <a:cs typeface="Verdana"/>
              </a:rPr>
              <a:t> </a:t>
            </a:r>
            <a:r>
              <a:rPr sz="1350" b="0" spc="-65" dirty="0">
                <a:latin typeface="Verdana"/>
                <a:cs typeface="Verdana"/>
              </a:rPr>
              <a:t>experience</a:t>
            </a:r>
            <a:r>
              <a:rPr sz="1350" b="0" spc="-195" dirty="0">
                <a:latin typeface="Verdana"/>
                <a:cs typeface="Verdana"/>
              </a:rPr>
              <a:t> </a:t>
            </a:r>
            <a:r>
              <a:rPr sz="1350" b="0" spc="-25" dirty="0">
                <a:latin typeface="Verdana"/>
                <a:cs typeface="Verdana"/>
              </a:rPr>
              <a:t>and </a:t>
            </a:r>
            <a:r>
              <a:rPr sz="1350" b="0" spc="-10" dirty="0">
                <a:latin typeface="Verdana"/>
                <a:cs typeface="Verdana"/>
              </a:rPr>
              <a:t>drive</a:t>
            </a:r>
            <a:r>
              <a:rPr sz="1350" b="0" spc="-105" dirty="0">
                <a:latin typeface="Verdana"/>
                <a:cs typeface="Verdana"/>
              </a:rPr>
              <a:t> </a:t>
            </a:r>
            <a:r>
              <a:rPr sz="1350" b="0" spc="-10" dirty="0">
                <a:latin typeface="Verdana"/>
                <a:cs typeface="Verdana"/>
              </a:rPr>
              <a:t>value.</a:t>
            </a:r>
            <a:endParaRPr sz="1350">
              <a:latin typeface="Verdana"/>
              <a:cs typeface="Verdana"/>
            </a:endParaRPr>
          </a:p>
          <a:p>
            <a:pPr marL="526415">
              <a:lnSpc>
                <a:spcPct val="100000"/>
              </a:lnSpc>
              <a:spcBef>
                <a:spcPts val="1550"/>
              </a:spcBef>
            </a:pPr>
            <a:r>
              <a:rPr spc="-210" dirty="0"/>
              <a:t>Empowering</a:t>
            </a:r>
            <a:r>
              <a:rPr spc="-85" dirty="0"/>
              <a:t> </a:t>
            </a:r>
            <a:r>
              <a:rPr spc="-10" dirty="0"/>
              <a:t>Freelancers</a:t>
            </a:r>
          </a:p>
          <a:p>
            <a:pPr marL="526415" marR="682625">
              <a:lnSpc>
                <a:spcPct val="134100"/>
              </a:lnSpc>
              <a:spcBef>
                <a:spcPts val="660"/>
              </a:spcBef>
            </a:pPr>
            <a:r>
              <a:rPr sz="1350" b="0" spc="-65" dirty="0">
                <a:latin typeface="Verdana"/>
                <a:cs typeface="Verdana"/>
              </a:rPr>
              <a:t>Building</a:t>
            </a:r>
            <a:r>
              <a:rPr sz="1350" b="0" spc="-195" dirty="0">
                <a:latin typeface="Verdana"/>
                <a:cs typeface="Verdana"/>
              </a:rPr>
              <a:t> </a:t>
            </a:r>
            <a:r>
              <a:rPr sz="1350" b="0" spc="-50" dirty="0">
                <a:latin typeface="Verdana"/>
                <a:cs typeface="Verdana"/>
              </a:rPr>
              <a:t>the</a:t>
            </a:r>
            <a:r>
              <a:rPr sz="1350" b="0" spc="-175" dirty="0">
                <a:latin typeface="Verdana"/>
                <a:cs typeface="Verdana"/>
              </a:rPr>
              <a:t> </a:t>
            </a:r>
            <a:r>
              <a:rPr sz="1350" b="0" spc="-65" dirty="0">
                <a:latin typeface="Verdana"/>
                <a:cs typeface="Verdana"/>
              </a:rPr>
              <a:t>future</a:t>
            </a:r>
            <a:r>
              <a:rPr sz="1350" b="0" spc="-170" dirty="0">
                <a:latin typeface="Verdana"/>
                <a:cs typeface="Verdana"/>
              </a:rPr>
              <a:t> </a:t>
            </a:r>
            <a:r>
              <a:rPr sz="1350" b="0" spc="-40" dirty="0">
                <a:latin typeface="Verdana"/>
                <a:cs typeface="Verdana"/>
              </a:rPr>
              <a:t>of</a:t>
            </a:r>
            <a:r>
              <a:rPr sz="1350" b="0" spc="-180" dirty="0">
                <a:latin typeface="Verdana"/>
                <a:cs typeface="Verdana"/>
              </a:rPr>
              <a:t> </a:t>
            </a:r>
            <a:r>
              <a:rPr sz="1350" b="0" spc="-60" dirty="0">
                <a:latin typeface="Verdana"/>
                <a:cs typeface="Verdana"/>
              </a:rPr>
              <a:t>work</a:t>
            </a:r>
            <a:r>
              <a:rPr sz="1350" b="0" spc="-170" dirty="0">
                <a:latin typeface="Verdana"/>
                <a:cs typeface="Verdana"/>
              </a:rPr>
              <a:t> </a:t>
            </a:r>
            <a:r>
              <a:rPr sz="1350" b="0" spc="-40" dirty="0">
                <a:latin typeface="Verdana"/>
                <a:cs typeface="Verdana"/>
              </a:rPr>
              <a:t>by</a:t>
            </a:r>
            <a:r>
              <a:rPr sz="1350" b="0" spc="-180" dirty="0">
                <a:latin typeface="Verdana"/>
                <a:cs typeface="Verdana"/>
              </a:rPr>
              <a:t> </a:t>
            </a:r>
            <a:r>
              <a:rPr sz="1350" b="0" spc="-70" dirty="0">
                <a:latin typeface="Verdana"/>
                <a:cs typeface="Verdana"/>
              </a:rPr>
              <a:t>supporting</a:t>
            </a:r>
            <a:r>
              <a:rPr sz="1350" b="0" spc="-175" dirty="0">
                <a:latin typeface="Verdana"/>
                <a:cs typeface="Verdana"/>
              </a:rPr>
              <a:t> </a:t>
            </a:r>
            <a:r>
              <a:rPr sz="1350" b="0" spc="-40" dirty="0">
                <a:latin typeface="Verdana"/>
                <a:cs typeface="Verdana"/>
              </a:rPr>
              <a:t>independent </a:t>
            </a:r>
            <a:r>
              <a:rPr sz="1350" b="0" spc="-10" dirty="0">
                <a:latin typeface="Verdana"/>
                <a:cs typeface="Verdana"/>
              </a:rPr>
              <a:t>professionals.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7559" y="-1"/>
            <a:ext cx="4282440" cy="643826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00075" y="2103056"/>
            <a:ext cx="133350" cy="666750"/>
            <a:chOff x="600075" y="2103056"/>
            <a:chExt cx="133350" cy="666750"/>
          </a:xfrm>
        </p:grpSpPr>
        <p:sp>
          <p:nvSpPr>
            <p:cNvPr id="6" name="object 6"/>
            <p:cNvSpPr/>
            <p:nvPr/>
          </p:nvSpPr>
          <p:spPr>
            <a:xfrm>
              <a:off x="604837" y="2107819"/>
              <a:ext cx="123825" cy="657225"/>
            </a:xfrm>
            <a:custGeom>
              <a:avLst/>
              <a:gdLst/>
              <a:ahLst/>
              <a:cxnLst/>
              <a:rect l="l" t="t" r="r" b="b"/>
              <a:pathLst>
                <a:path w="123825" h="657225">
                  <a:moveTo>
                    <a:pt x="72199" y="0"/>
                  </a:moveTo>
                  <a:lnTo>
                    <a:pt x="51612" y="0"/>
                  </a:lnTo>
                  <a:lnTo>
                    <a:pt x="48031" y="380"/>
                  </a:lnTo>
                  <a:lnTo>
                    <a:pt x="13614" y="18796"/>
                  </a:lnTo>
                  <a:lnTo>
                    <a:pt x="0" y="51562"/>
                  </a:lnTo>
                  <a:lnTo>
                    <a:pt x="0" y="605663"/>
                  </a:lnTo>
                  <a:lnTo>
                    <a:pt x="18745" y="643636"/>
                  </a:lnTo>
                  <a:lnTo>
                    <a:pt x="51612" y="657225"/>
                  </a:lnTo>
                  <a:lnTo>
                    <a:pt x="72199" y="657225"/>
                  </a:lnTo>
                  <a:lnTo>
                    <a:pt x="110210" y="638428"/>
                  </a:lnTo>
                  <a:lnTo>
                    <a:pt x="123825" y="605663"/>
                  </a:lnTo>
                  <a:lnTo>
                    <a:pt x="123825" y="51562"/>
                  </a:lnTo>
                  <a:lnTo>
                    <a:pt x="105079" y="13588"/>
                  </a:lnTo>
                  <a:lnTo>
                    <a:pt x="75793" y="380"/>
                  </a:lnTo>
                  <a:lnTo>
                    <a:pt x="72199" y="0"/>
                  </a:lnTo>
                  <a:close/>
                </a:path>
              </a:pathLst>
            </a:custGeom>
            <a:solidFill>
              <a:srgbClr val="DF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4837" y="2107819"/>
              <a:ext cx="123825" cy="657225"/>
            </a:xfrm>
            <a:custGeom>
              <a:avLst/>
              <a:gdLst/>
              <a:ahLst/>
              <a:cxnLst/>
              <a:rect l="l" t="t" r="r" b="b"/>
              <a:pathLst>
                <a:path w="123825" h="657225">
                  <a:moveTo>
                    <a:pt x="0" y="601979"/>
                  </a:moveTo>
                  <a:lnTo>
                    <a:pt x="0" y="55244"/>
                  </a:lnTo>
                  <a:lnTo>
                    <a:pt x="0" y="51562"/>
                  </a:lnTo>
                  <a:lnTo>
                    <a:pt x="355" y="48005"/>
                  </a:lnTo>
                  <a:lnTo>
                    <a:pt x="1054" y="44450"/>
                  </a:lnTo>
                  <a:lnTo>
                    <a:pt x="1765" y="40893"/>
                  </a:lnTo>
                  <a:lnTo>
                    <a:pt x="2819" y="37464"/>
                  </a:lnTo>
                  <a:lnTo>
                    <a:pt x="4203" y="34162"/>
                  </a:lnTo>
                  <a:lnTo>
                    <a:pt x="5587" y="30734"/>
                  </a:lnTo>
                  <a:lnTo>
                    <a:pt x="44462" y="101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68579" y="0"/>
                  </a:lnTo>
                  <a:lnTo>
                    <a:pt x="72199" y="0"/>
                  </a:lnTo>
                  <a:lnTo>
                    <a:pt x="75793" y="380"/>
                  </a:lnTo>
                  <a:lnTo>
                    <a:pt x="122758" y="44450"/>
                  </a:lnTo>
                  <a:lnTo>
                    <a:pt x="123825" y="51562"/>
                  </a:lnTo>
                  <a:lnTo>
                    <a:pt x="123825" y="55244"/>
                  </a:lnTo>
                  <a:lnTo>
                    <a:pt x="123825" y="601979"/>
                  </a:lnTo>
                  <a:lnTo>
                    <a:pt x="123825" y="605663"/>
                  </a:lnTo>
                  <a:lnTo>
                    <a:pt x="123469" y="609218"/>
                  </a:lnTo>
                  <a:lnTo>
                    <a:pt x="105079" y="643636"/>
                  </a:lnTo>
                  <a:lnTo>
                    <a:pt x="79362" y="656209"/>
                  </a:lnTo>
                  <a:lnTo>
                    <a:pt x="75793" y="656843"/>
                  </a:lnTo>
                  <a:lnTo>
                    <a:pt x="72199" y="657225"/>
                  </a:lnTo>
                  <a:lnTo>
                    <a:pt x="68579" y="657225"/>
                  </a:lnTo>
                  <a:lnTo>
                    <a:pt x="55245" y="657225"/>
                  </a:lnTo>
                  <a:lnTo>
                    <a:pt x="51612" y="657225"/>
                  </a:lnTo>
                  <a:lnTo>
                    <a:pt x="48031" y="656843"/>
                  </a:lnTo>
                  <a:lnTo>
                    <a:pt x="9309" y="632713"/>
                  </a:lnTo>
                  <a:lnTo>
                    <a:pt x="0" y="605663"/>
                  </a:lnTo>
                  <a:lnTo>
                    <a:pt x="0" y="601979"/>
                  </a:lnTo>
                  <a:close/>
                </a:path>
              </a:pathLst>
            </a:custGeom>
            <a:ln w="9525">
              <a:solidFill>
                <a:srgbClr val="C5BB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57250" y="2941637"/>
            <a:ext cx="133350" cy="952500"/>
            <a:chOff x="857250" y="2941637"/>
            <a:chExt cx="133350" cy="952500"/>
          </a:xfrm>
        </p:grpSpPr>
        <p:sp>
          <p:nvSpPr>
            <p:cNvPr id="9" name="object 9"/>
            <p:cNvSpPr/>
            <p:nvPr/>
          </p:nvSpPr>
          <p:spPr>
            <a:xfrm>
              <a:off x="862012" y="2946400"/>
              <a:ext cx="123825" cy="942975"/>
            </a:xfrm>
            <a:custGeom>
              <a:avLst/>
              <a:gdLst/>
              <a:ahLst/>
              <a:cxnLst/>
              <a:rect l="l" t="t" r="r" b="b"/>
              <a:pathLst>
                <a:path w="123825" h="942975">
                  <a:moveTo>
                    <a:pt x="72199" y="0"/>
                  </a:moveTo>
                  <a:lnTo>
                    <a:pt x="51612" y="0"/>
                  </a:lnTo>
                  <a:lnTo>
                    <a:pt x="48031" y="381"/>
                  </a:lnTo>
                  <a:lnTo>
                    <a:pt x="13614" y="18669"/>
                  </a:lnTo>
                  <a:lnTo>
                    <a:pt x="0" y="51562"/>
                  </a:lnTo>
                  <a:lnTo>
                    <a:pt x="0" y="891286"/>
                  </a:lnTo>
                  <a:lnTo>
                    <a:pt x="18745" y="929386"/>
                  </a:lnTo>
                  <a:lnTo>
                    <a:pt x="51612" y="942975"/>
                  </a:lnTo>
                  <a:lnTo>
                    <a:pt x="72199" y="942975"/>
                  </a:lnTo>
                  <a:lnTo>
                    <a:pt x="110210" y="924179"/>
                  </a:lnTo>
                  <a:lnTo>
                    <a:pt x="123825" y="891286"/>
                  </a:lnTo>
                  <a:lnTo>
                    <a:pt x="123825" y="51562"/>
                  </a:lnTo>
                  <a:lnTo>
                    <a:pt x="105079" y="13588"/>
                  </a:lnTo>
                  <a:lnTo>
                    <a:pt x="75793" y="381"/>
                  </a:lnTo>
                  <a:lnTo>
                    <a:pt x="72199" y="0"/>
                  </a:lnTo>
                  <a:close/>
                </a:path>
              </a:pathLst>
            </a:custGeom>
            <a:solidFill>
              <a:srgbClr val="DF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2012" y="2946400"/>
              <a:ext cx="123825" cy="942975"/>
            </a:xfrm>
            <a:custGeom>
              <a:avLst/>
              <a:gdLst/>
              <a:ahLst/>
              <a:cxnLst/>
              <a:rect l="l" t="t" r="r" b="b"/>
              <a:pathLst>
                <a:path w="123825" h="942975">
                  <a:moveTo>
                    <a:pt x="0" y="887730"/>
                  </a:moveTo>
                  <a:lnTo>
                    <a:pt x="0" y="55245"/>
                  </a:lnTo>
                  <a:lnTo>
                    <a:pt x="0" y="51562"/>
                  </a:lnTo>
                  <a:lnTo>
                    <a:pt x="355" y="48006"/>
                  </a:lnTo>
                  <a:lnTo>
                    <a:pt x="1066" y="44450"/>
                  </a:lnTo>
                  <a:lnTo>
                    <a:pt x="1765" y="40894"/>
                  </a:lnTo>
                  <a:lnTo>
                    <a:pt x="2819" y="37465"/>
                  </a:lnTo>
                  <a:lnTo>
                    <a:pt x="27571" y="7238"/>
                  </a:lnTo>
                  <a:lnTo>
                    <a:pt x="51612" y="0"/>
                  </a:lnTo>
                  <a:lnTo>
                    <a:pt x="55244" y="0"/>
                  </a:lnTo>
                  <a:lnTo>
                    <a:pt x="68580" y="0"/>
                  </a:lnTo>
                  <a:lnTo>
                    <a:pt x="72199" y="0"/>
                  </a:lnTo>
                  <a:lnTo>
                    <a:pt x="75793" y="381"/>
                  </a:lnTo>
                  <a:lnTo>
                    <a:pt x="122758" y="44450"/>
                  </a:lnTo>
                  <a:lnTo>
                    <a:pt x="123825" y="51562"/>
                  </a:lnTo>
                  <a:lnTo>
                    <a:pt x="123825" y="55245"/>
                  </a:lnTo>
                  <a:lnTo>
                    <a:pt x="123825" y="887730"/>
                  </a:lnTo>
                  <a:lnTo>
                    <a:pt x="123825" y="891286"/>
                  </a:lnTo>
                  <a:lnTo>
                    <a:pt x="123469" y="894969"/>
                  </a:lnTo>
                  <a:lnTo>
                    <a:pt x="79349" y="941832"/>
                  </a:lnTo>
                  <a:lnTo>
                    <a:pt x="72199" y="942975"/>
                  </a:lnTo>
                  <a:lnTo>
                    <a:pt x="68580" y="942975"/>
                  </a:lnTo>
                  <a:lnTo>
                    <a:pt x="55244" y="942975"/>
                  </a:lnTo>
                  <a:lnTo>
                    <a:pt x="51612" y="942975"/>
                  </a:lnTo>
                  <a:lnTo>
                    <a:pt x="48031" y="942594"/>
                  </a:lnTo>
                  <a:lnTo>
                    <a:pt x="44462" y="941832"/>
                  </a:lnTo>
                  <a:lnTo>
                    <a:pt x="40906" y="941197"/>
                  </a:lnTo>
                  <a:lnTo>
                    <a:pt x="9309" y="918337"/>
                  </a:lnTo>
                  <a:lnTo>
                    <a:pt x="7289" y="915416"/>
                  </a:lnTo>
                  <a:lnTo>
                    <a:pt x="5587" y="912241"/>
                  </a:lnTo>
                  <a:lnTo>
                    <a:pt x="4203" y="908812"/>
                  </a:lnTo>
                  <a:lnTo>
                    <a:pt x="2819" y="905510"/>
                  </a:lnTo>
                  <a:lnTo>
                    <a:pt x="1765" y="902081"/>
                  </a:lnTo>
                  <a:lnTo>
                    <a:pt x="1066" y="898525"/>
                  </a:lnTo>
                  <a:lnTo>
                    <a:pt x="355" y="894969"/>
                  </a:lnTo>
                  <a:lnTo>
                    <a:pt x="0" y="891286"/>
                  </a:lnTo>
                  <a:lnTo>
                    <a:pt x="0" y="887730"/>
                  </a:lnTo>
                  <a:close/>
                </a:path>
              </a:pathLst>
            </a:custGeom>
            <a:ln w="9525">
              <a:solidFill>
                <a:srgbClr val="C5BB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114425" y="4064698"/>
            <a:ext cx="133350" cy="942975"/>
            <a:chOff x="1114425" y="4064698"/>
            <a:chExt cx="133350" cy="942975"/>
          </a:xfrm>
        </p:grpSpPr>
        <p:sp>
          <p:nvSpPr>
            <p:cNvPr id="12" name="object 12"/>
            <p:cNvSpPr/>
            <p:nvPr/>
          </p:nvSpPr>
          <p:spPr>
            <a:xfrm>
              <a:off x="1119187" y="4069461"/>
              <a:ext cx="123825" cy="933450"/>
            </a:xfrm>
            <a:custGeom>
              <a:avLst/>
              <a:gdLst/>
              <a:ahLst/>
              <a:cxnLst/>
              <a:rect l="l" t="t" r="r" b="b"/>
              <a:pathLst>
                <a:path w="123825" h="933450">
                  <a:moveTo>
                    <a:pt x="72199" y="0"/>
                  </a:moveTo>
                  <a:lnTo>
                    <a:pt x="51612" y="0"/>
                  </a:lnTo>
                  <a:lnTo>
                    <a:pt x="48031" y="381"/>
                  </a:lnTo>
                  <a:lnTo>
                    <a:pt x="13614" y="18796"/>
                  </a:lnTo>
                  <a:lnTo>
                    <a:pt x="0" y="51689"/>
                  </a:lnTo>
                  <a:lnTo>
                    <a:pt x="0" y="881888"/>
                  </a:lnTo>
                  <a:lnTo>
                    <a:pt x="18745" y="919861"/>
                  </a:lnTo>
                  <a:lnTo>
                    <a:pt x="51612" y="933450"/>
                  </a:lnTo>
                  <a:lnTo>
                    <a:pt x="72199" y="933450"/>
                  </a:lnTo>
                  <a:lnTo>
                    <a:pt x="110210" y="914781"/>
                  </a:lnTo>
                  <a:lnTo>
                    <a:pt x="123825" y="881888"/>
                  </a:lnTo>
                  <a:lnTo>
                    <a:pt x="123825" y="51689"/>
                  </a:lnTo>
                  <a:lnTo>
                    <a:pt x="105079" y="13589"/>
                  </a:lnTo>
                  <a:lnTo>
                    <a:pt x="75793" y="381"/>
                  </a:lnTo>
                  <a:lnTo>
                    <a:pt x="72199" y="0"/>
                  </a:lnTo>
                  <a:close/>
                </a:path>
              </a:pathLst>
            </a:custGeom>
            <a:solidFill>
              <a:srgbClr val="DF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19187" y="4069461"/>
              <a:ext cx="123825" cy="933450"/>
            </a:xfrm>
            <a:custGeom>
              <a:avLst/>
              <a:gdLst/>
              <a:ahLst/>
              <a:cxnLst/>
              <a:rect l="l" t="t" r="r" b="b"/>
              <a:pathLst>
                <a:path w="123825" h="933450">
                  <a:moveTo>
                    <a:pt x="0" y="878205"/>
                  </a:moveTo>
                  <a:lnTo>
                    <a:pt x="0" y="55245"/>
                  </a:lnTo>
                  <a:lnTo>
                    <a:pt x="0" y="51689"/>
                  </a:lnTo>
                  <a:lnTo>
                    <a:pt x="355" y="48006"/>
                  </a:lnTo>
                  <a:lnTo>
                    <a:pt x="1054" y="44450"/>
                  </a:lnTo>
                  <a:lnTo>
                    <a:pt x="1765" y="40893"/>
                  </a:lnTo>
                  <a:lnTo>
                    <a:pt x="2819" y="37465"/>
                  </a:lnTo>
                  <a:lnTo>
                    <a:pt x="4203" y="34162"/>
                  </a:lnTo>
                  <a:lnTo>
                    <a:pt x="5587" y="30734"/>
                  </a:lnTo>
                  <a:lnTo>
                    <a:pt x="44462" y="1143"/>
                  </a:lnTo>
                  <a:lnTo>
                    <a:pt x="51612" y="0"/>
                  </a:lnTo>
                  <a:lnTo>
                    <a:pt x="55244" y="0"/>
                  </a:lnTo>
                  <a:lnTo>
                    <a:pt x="68580" y="0"/>
                  </a:lnTo>
                  <a:lnTo>
                    <a:pt x="72199" y="0"/>
                  </a:lnTo>
                  <a:lnTo>
                    <a:pt x="75793" y="381"/>
                  </a:lnTo>
                  <a:lnTo>
                    <a:pt x="79349" y="1143"/>
                  </a:lnTo>
                  <a:lnTo>
                    <a:pt x="82918" y="1778"/>
                  </a:lnTo>
                  <a:lnTo>
                    <a:pt x="122758" y="44450"/>
                  </a:lnTo>
                  <a:lnTo>
                    <a:pt x="123825" y="51689"/>
                  </a:lnTo>
                  <a:lnTo>
                    <a:pt x="123825" y="55245"/>
                  </a:lnTo>
                  <a:lnTo>
                    <a:pt x="123825" y="878205"/>
                  </a:lnTo>
                  <a:lnTo>
                    <a:pt x="123825" y="881888"/>
                  </a:lnTo>
                  <a:lnTo>
                    <a:pt x="123469" y="885444"/>
                  </a:lnTo>
                  <a:lnTo>
                    <a:pt x="79349" y="932434"/>
                  </a:lnTo>
                  <a:lnTo>
                    <a:pt x="72199" y="933450"/>
                  </a:lnTo>
                  <a:lnTo>
                    <a:pt x="68580" y="933450"/>
                  </a:lnTo>
                  <a:lnTo>
                    <a:pt x="55244" y="933450"/>
                  </a:lnTo>
                  <a:lnTo>
                    <a:pt x="51612" y="933450"/>
                  </a:lnTo>
                  <a:lnTo>
                    <a:pt x="48031" y="933069"/>
                  </a:lnTo>
                  <a:lnTo>
                    <a:pt x="9309" y="908939"/>
                  </a:lnTo>
                  <a:lnTo>
                    <a:pt x="0" y="881888"/>
                  </a:lnTo>
                  <a:lnTo>
                    <a:pt x="0" y="878205"/>
                  </a:lnTo>
                  <a:close/>
                </a:path>
              </a:pathLst>
            </a:custGeom>
            <a:ln w="9525">
              <a:solidFill>
                <a:srgbClr val="C5BB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308</Words>
  <Application>Microsoft Office PowerPoint</Application>
  <PresentationFormat>Custom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Georgia</vt:lpstr>
      <vt:lpstr>Verdana</vt:lpstr>
      <vt:lpstr>Office Theme</vt:lpstr>
      <vt:lpstr>The Future of Work: Revolutionizing Freelancing</vt:lpstr>
      <vt:lpstr>The Freelance Economy Landscape</vt:lpstr>
      <vt:lpstr>Problem: Freelancer Pain Points</vt:lpstr>
      <vt:lpstr>Our Solution: NextWork Freelance Platform</vt:lpstr>
      <vt:lpstr>PowerPoint Presentation</vt:lpstr>
      <vt:lpstr>Target User Segments</vt:lpstr>
      <vt:lpstr>Business Model</vt:lpstr>
      <vt:lpstr>Vision and Future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>mohithsharan</dc:creator>
  <cp:lastModifiedBy>mohithsharan4@gmail.com</cp:lastModifiedBy>
  <cp:revision>1</cp:revision>
  <dcterms:created xsi:type="dcterms:W3CDTF">2025-04-11T16:30:15Z</dcterms:created>
  <dcterms:modified xsi:type="dcterms:W3CDTF">2025-04-11T17:07:06Z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2025-04-11T00:00:00Z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2025-04-11T00:00:00Z</vt:filetime>
  </property>
  <property fmtid="{D5CDD505-2E9C-101B-9397-08002B2CF9AE}" pid="5" name="Producer">
    <vt:lpwstr>Microsoft® Word 2021</vt:lpwstr>
  </property>
</Properties>
</file>